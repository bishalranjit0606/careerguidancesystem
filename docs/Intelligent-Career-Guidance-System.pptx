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5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5" r:id="rId6"/>
    <p:sldId id="261" r:id="rId7"/>
    <p:sldId id="266" r:id="rId8"/>
    <p:sldId id="267" r:id="rId9"/>
    <p:sldId id="268" r:id="rId10"/>
    <p:sldId id="269" r:id="rId11"/>
    <p:sldId id="263" r:id="rId12"/>
    <p:sldId id="264" r:id="rId13"/>
  </p:sldIdLst>
  <p:sldSz cx="14630400" cy="8229600"/>
  <p:notesSz cx="8229600" cy="14630400"/>
  <p:embeddedFontLst>
    <p:embeddedFont>
      <p:font typeface="Montserrat" pitchFamily="2" charset="77"/>
      <p:regular r:id="rId15"/>
      <p:bold r:id="rId16"/>
      <p:italic r:id="rId17"/>
      <p:boldItalic r:id="rId18"/>
    </p:embeddedFont>
  </p:embeddedFontLst>
  <p:defaultTextStyle>
    <a:defPPr>
      <a:defRPr lang="en-NP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1F1F1"/>
    <a:srgbClr val="EAEAEA"/>
    <a:srgbClr val="E4E4E4"/>
    <a:srgbClr val="DBDBD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4512"/>
    <p:restoredTop sz="94610"/>
  </p:normalViewPr>
  <p:slideViewPr>
    <p:cSldViewPr snapToGrid="0" snapToObjects="1">
      <p:cViewPr varScale="1">
        <p:scale>
          <a:sx n="64" d="100"/>
          <a:sy n="64" d="100"/>
        </p:scale>
        <p:origin x="184" y="7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813866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0F17D9-605C-DE86-0DE0-94CA1E7FE5A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28800" y="1346836"/>
            <a:ext cx="10972800" cy="2865120"/>
          </a:xfrm>
        </p:spPr>
        <p:txBody>
          <a:bodyPr anchor="b"/>
          <a:lstStyle>
            <a:lvl1pPr algn="ctr">
              <a:defRPr sz="7200"/>
            </a:lvl1pPr>
          </a:lstStyle>
          <a:p>
            <a:r>
              <a:rPr lang="en-US"/>
              <a:t>Click to edit Master title style</a:t>
            </a:r>
            <a:endParaRPr lang="en-NP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C747E30-D468-4B45-F4EF-7C576032C97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4322446"/>
            <a:ext cx="10972800" cy="1986914"/>
          </a:xfrm>
        </p:spPr>
        <p:txBody>
          <a:bodyPr/>
          <a:lstStyle>
            <a:lvl1pPr marL="0" indent="0" algn="ctr">
              <a:buNone/>
              <a:defRPr sz="2880"/>
            </a:lvl1pPr>
            <a:lvl2pPr marL="548640" indent="0" algn="ctr">
              <a:buNone/>
              <a:defRPr sz="2400"/>
            </a:lvl2pPr>
            <a:lvl3pPr marL="1097280" indent="0" algn="ctr">
              <a:buNone/>
              <a:defRPr sz="2160"/>
            </a:lvl3pPr>
            <a:lvl4pPr marL="1645920" indent="0" algn="ctr">
              <a:buNone/>
              <a:defRPr sz="1920"/>
            </a:lvl4pPr>
            <a:lvl5pPr marL="2194560" indent="0" algn="ctr">
              <a:buNone/>
              <a:defRPr sz="1920"/>
            </a:lvl5pPr>
            <a:lvl6pPr marL="2743200" indent="0" algn="ctr">
              <a:buNone/>
              <a:defRPr sz="1920"/>
            </a:lvl6pPr>
            <a:lvl7pPr marL="3291840" indent="0" algn="ctr">
              <a:buNone/>
              <a:defRPr sz="1920"/>
            </a:lvl7pPr>
            <a:lvl8pPr marL="3840480" indent="0" algn="ctr">
              <a:buNone/>
              <a:defRPr sz="1920"/>
            </a:lvl8pPr>
            <a:lvl9pPr marL="4389120" indent="0" algn="ctr">
              <a:buNone/>
              <a:defRPr sz="1920"/>
            </a:lvl9pPr>
          </a:lstStyle>
          <a:p>
            <a:r>
              <a:rPr lang="en-US"/>
              <a:t>Click to edit Master subtitle style</a:t>
            </a:r>
            <a:endParaRPr lang="en-NP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520A4F-97E0-D524-8858-0224B0DB3B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NP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6F485B-3143-23C4-1B20-BDC2493076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P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8A0AAC-216B-1139-5EAE-B588EACECA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F4A2D9-87E5-EF4F-9102-1DD64185A864}" type="slidenum">
              <a:rPr lang="en-NP" smtClean="0"/>
              <a:t>‹#›</a:t>
            </a:fld>
            <a:endParaRPr lang="en-NP"/>
          </a:p>
        </p:txBody>
      </p:sp>
    </p:spTree>
    <p:extLst>
      <p:ext uri="{BB962C8B-B14F-4D97-AF65-F5344CB8AC3E}">
        <p14:creationId xmlns:p14="http://schemas.microsoft.com/office/powerpoint/2010/main" val="24024263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4B4333-1A02-44AB-1101-2065123DD0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P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E0E52A-98D8-9347-2421-89603E9E15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P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AF77AC-00B4-AB97-B4E4-79BA96230B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NP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57BEF4-220B-337B-3CD8-566FF34517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P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6DC7F3-4FD1-5A02-8EEF-3B79EFBD3A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F4A2D9-87E5-EF4F-9102-1DD64185A864}" type="slidenum">
              <a:rPr lang="en-NP" smtClean="0"/>
              <a:t>‹#›</a:t>
            </a:fld>
            <a:endParaRPr lang="en-NP"/>
          </a:p>
        </p:txBody>
      </p:sp>
    </p:spTree>
    <p:extLst>
      <p:ext uri="{BB962C8B-B14F-4D97-AF65-F5344CB8AC3E}">
        <p14:creationId xmlns:p14="http://schemas.microsoft.com/office/powerpoint/2010/main" val="25610878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AA3D7D-DB9D-61B0-877C-010F9611AE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8220" y="2051686"/>
            <a:ext cx="12618720" cy="3423284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NP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4CD7AE-9C55-3BA5-006C-F3DB904EA8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98220" y="5507356"/>
            <a:ext cx="12618720" cy="1800224"/>
          </a:xfrm>
        </p:spPr>
        <p:txBody>
          <a:bodyPr/>
          <a:lstStyle>
            <a:lvl1pPr marL="0" indent="0">
              <a:buNone/>
              <a:defRPr sz="2880">
                <a:solidFill>
                  <a:schemeClr val="tx1">
                    <a:tint val="82000"/>
                  </a:schemeClr>
                </a:solidFill>
              </a:defRPr>
            </a:lvl1pPr>
            <a:lvl2pPr marL="54864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2pPr>
            <a:lvl3pPr marL="1097280" indent="0">
              <a:buNone/>
              <a:defRPr sz="2160">
                <a:solidFill>
                  <a:schemeClr val="tx1">
                    <a:tint val="82000"/>
                  </a:schemeClr>
                </a:solidFill>
              </a:defRPr>
            </a:lvl3pPr>
            <a:lvl4pPr marL="1645920" indent="0">
              <a:buNone/>
              <a:defRPr sz="1920">
                <a:solidFill>
                  <a:schemeClr val="tx1">
                    <a:tint val="82000"/>
                  </a:schemeClr>
                </a:solidFill>
              </a:defRPr>
            </a:lvl4pPr>
            <a:lvl5pPr marL="2194560" indent="0">
              <a:buNone/>
              <a:defRPr sz="1920">
                <a:solidFill>
                  <a:schemeClr val="tx1">
                    <a:tint val="82000"/>
                  </a:schemeClr>
                </a:solidFill>
              </a:defRPr>
            </a:lvl5pPr>
            <a:lvl6pPr marL="2743200" indent="0">
              <a:buNone/>
              <a:defRPr sz="1920">
                <a:solidFill>
                  <a:schemeClr val="tx1">
                    <a:tint val="82000"/>
                  </a:schemeClr>
                </a:solidFill>
              </a:defRPr>
            </a:lvl6pPr>
            <a:lvl7pPr marL="3291840" indent="0">
              <a:buNone/>
              <a:defRPr sz="1920">
                <a:solidFill>
                  <a:schemeClr val="tx1">
                    <a:tint val="82000"/>
                  </a:schemeClr>
                </a:solidFill>
              </a:defRPr>
            </a:lvl7pPr>
            <a:lvl8pPr marL="3840480" indent="0">
              <a:buNone/>
              <a:defRPr sz="1920">
                <a:solidFill>
                  <a:schemeClr val="tx1">
                    <a:tint val="82000"/>
                  </a:schemeClr>
                </a:solidFill>
              </a:defRPr>
            </a:lvl8pPr>
            <a:lvl9pPr marL="4389120" indent="0">
              <a:buNone/>
              <a:defRPr sz="192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408C9B-2D4A-5AC0-A0F4-4CFC226FAF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NP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DB5B4F-3154-C5D2-D444-D6A04B8B18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P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8D3C8C-2A69-D611-16C5-5759DCDB9D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F4A2D9-87E5-EF4F-9102-1DD64185A864}" type="slidenum">
              <a:rPr lang="en-NP" smtClean="0"/>
              <a:t>‹#›</a:t>
            </a:fld>
            <a:endParaRPr lang="en-NP"/>
          </a:p>
        </p:txBody>
      </p:sp>
    </p:spTree>
    <p:extLst>
      <p:ext uri="{BB962C8B-B14F-4D97-AF65-F5344CB8AC3E}">
        <p14:creationId xmlns:p14="http://schemas.microsoft.com/office/powerpoint/2010/main" val="6021753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B5C904-6867-8452-CAF5-C5A5B91DDF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P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E59149-57D7-03D9-6384-95EFEB4F272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05840" y="2190750"/>
            <a:ext cx="6217920" cy="52216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P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112BFFB-C3A0-7474-7A3F-3FD8C5560A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406640" y="2190750"/>
            <a:ext cx="6217920" cy="52216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P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60C8202-BC35-C38A-3F30-807C5DC496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NP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5DF6B0E-D899-4937-53A5-205F49562D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P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748BA1A-CBA2-412D-7EB8-638CEB05B1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F4A2D9-87E5-EF4F-9102-1DD64185A864}" type="slidenum">
              <a:rPr lang="en-NP" smtClean="0"/>
              <a:t>‹#›</a:t>
            </a:fld>
            <a:endParaRPr lang="en-NP"/>
          </a:p>
        </p:txBody>
      </p:sp>
    </p:spTree>
    <p:extLst>
      <p:ext uri="{BB962C8B-B14F-4D97-AF65-F5344CB8AC3E}">
        <p14:creationId xmlns:p14="http://schemas.microsoft.com/office/powerpoint/2010/main" val="12285195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3637E1-E117-C1DE-D78A-6DADC6AD32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7746" y="438150"/>
            <a:ext cx="12618720" cy="159067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NP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4474F9-660B-AFF4-C88F-52DF81A8EB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07746" y="2017396"/>
            <a:ext cx="6189344" cy="988694"/>
          </a:xfrm>
        </p:spPr>
        <p:txBody>
          <a:bodyPr anchor="b"/>
          <a:lstStyle>
            <a:lvl1pPr marL="0" indent="0">
              <a:buNone/>
              <a:defRPr sz="2880" b="1"/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7A6F4B9-8285-E0A1-B12C-9EBD70B78C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07746" y="3006090"/>
            <a:ext cx="6189344" cy="44215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P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05CDE9F-6E76-0861-2527-1B0237EBF55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7406640" y="2017396"/>
            <a:ext cx="6219826" cy="988694"/>
          </a:xfrm>
        </p:spPr>
        <p:txBody>
          <a:bodyPr anchor="b"/>
          <a:lstStyle>
            <a:lvl1pPr marL="0" indent="0">
              <a:buNone/>
              <a:defRPr sz="2880" b="1"/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93832A-74C1-A7A2-AFE3-AFEBF933D3E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7406640" y="3006090"/>
            <a:ext cx="6219826" cy="44215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P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382614-398E-02FB-47C4-CA212B3EDC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NP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0FFD8C6-3F35-FDA1-D215-DF28A73F36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P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611147E-A723-B09A-C5F1-F72C502F53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F4A2D9-87E5-EF4F-9102-1DD64185A864}" type="slidenum">
              <a:rPr lang="en-NP" smtClean="0"/>
              <a:t>‹#›</a:t>
            </a:fld>
            <a:endParaRPr lang="en-NP"/>
          </a:p>
        </p:txBody>
      </p:sp>
    </p:spTree>
    <p:extLst>
      <p:ext uri="{BB962C8B-B14F-4D97-AF65-F5344CB8AC3E}">
        <p14:creationId xmlns:p14="http://schemas.microsoft.com/office/powerpoint/2010/main" val="9530776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60B350-A24C-D793-94BB-5F68FF9981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P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1298894-ECDD-6EE3-28FA-C463A6845D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NP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0DA0F4C-C13B-D8DB-FAF5-E8A685FC8A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P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6DFF3D9-1681-B3BE-BB8B-F89A20AC3E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F4A2D9-87E5-EF4F-9102-1DD64185A864}" type="slidenum">
              <a:rPr lang="en-NP" smtClean="0"/>
              <a:t>‹#›</a:t>
            </a:fld>
            <a:endParaRPr lang="en-NP"/>
          </a:p>
        </p:txBody>
      </p:sp>
    </p:spTree>
    <p:extLst>
      <p:ext uri="{BB962C8B-B14F-4D97-AF65-F5344CB8AC3E}">
        <p14:creationId xmlns:p14="http://schemas.microsoft.com/office/powerpoint/2010/main" val="39341452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6EAC01F-04BB-3448-80AF-BE8E5E5CC6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NP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913C733-E232-C76F-1CBF-FABF37B51E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P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92F9C7-C3A0-4F4E-4E77-64C5F1A891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F4A2D9-87E5-EF4F-9102-1DD64185A864}" type="slidenum">
              <a:rPr lang="en-NP" smtClean="0"/>
              <a:t>‹#›</a:t>
            </a:fld>
            <a:endParaRPr lang="en-NP"/>
          </a:p>
        </p:txBody>
      </p:sp>
    </p:spTree>
    <p:extLst>
      <p:ext uri="{BB962C8B-B14F-4D97-AF65-F5344CB8AC3E}">
        <p14:creationId xmlns:p14="http://schemas.microsoft.com/office/powerpoint/2010/main" val="1276943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851ACA-040D-073D-627F-A659FE9AA5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7746" y="548640"/>
            <a:ext cx="4718684" cy="1920240"/>
          </a:xfrm>
        </p:spPr>
        <p:txBody>
          <a:bodyPr anchor="b"/>
          <a:lstStyle>
            <a:lvl1pPr>
              <a:defRPr sz="3840"/>
            </a:lvl1pPr>
          </a:lstStyle>
          <a:p>
            <a:r>
              <a:rPr lang="en-US"/>
              <a:t>Click to edit Master title style</a:t>
            </a:r>
            <a:endParaRPr lang="en-NP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BE3815-7C30-A802-BCD7-F894B2544B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19826" y="1184911"/>
            <a:ext cx="7406640" cy="5848350"/>
          </a:xfrm>
        </p:spPr>
        <p:txBody>
          <a:bodyPr/>
          <a:lstStyle>
            <a:lvl1pPr>
              <a:defRPr sz="3840"/>
            </a:lvl1pPr>
            <a:lvl2pPr>
              <a:defRPr sz="3360"/>
            </a:lvl2pPr>
            <a:lvl3pPr>
              <a:defRPr sz="2880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P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CA3E7C8-A30B-9243-6D67-CC6115D59C3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07746" y="2468880"/>
            <a:ext cx="4718684" cy="4573906"/>
          </a:xfrm>
        </p:spPr>
        <p:txBody>
          <a:bodyPr/>
          <a:lstStyle>
            <a:lvl1pPr marL="0" indent="0">
              <a:buNone/>
              <a:defRPr sz="1920"/>
            </a:lvl1pPr>
            <a:lvl2pPr marL="548640" indent="0">
              <a:buNone/>
              <a:defRPr sz="1680"/>
            </a:lvl2pPr>
            <a:lvl3pPr marL="1097280" indent="0">
              <a:buNone/>
              <a:defRPr sz="1440"/>
            </a:lvl3pPr>
            <a:lvl4pPr marL="1645920" indent="0">
              <a:buNone/>
              <a:defRPr sz="1200"/>
            </a:lvl4pPr>
            <a:lvl5pPr marL="2194560" indent="0">
              <a:buNone/>
              <a:defRPr sz="1200"/>
            </a:lvl5pPr>
            <a:lvl6pPr marL="2743200" indent="0">
              <a:buNone/>
              <a:defRPr sz="1200"/>
            </a:lvl6pPr>
            <a:lvl7pPr marL="3291840" indent="0">
              <a:buNone/>
              <a:defRPr sz="1200"/>
            </a:lvl7pPr>
            <a:lvl8pPr marL="3840480" indent="0">
              <a:buNone/>
              <a:defRPr sz="1200"/>
            </a:lvl8pPr>
            <a:lvl9pPr marL="4389120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CB3C07D-DD08-3095-3B1F-F20255C0DA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NP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E38A1CA-40F5-F5EF-9B3C-6544B61E02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P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691B77-AD10-FF57-9522-1065D765B6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F4A2D9-87E5-EF4F-9102-1DD64185A864}" type="slidenum">
              <a:rPr lang="en-NP" smtClean="0"/>
              <a:t>‹#›</a:t>
            </a:fld>
            <a:endParaRPr lang="en-NP"/>
          </a:p>
        </p:txBody>
      </p:sp>
    </p:spTree>
    <p:extLst>
      <p:ext uri="{BB962C8B-B14F-4D97-AF65-F5344CB8AC3E}">
        <p14:creationId xmlns:p14="http://schemas.microsoft.com/office/powerpoint/2010/main" val="6223486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FD9E42-35F7-0CBD-7B5E-00949FE485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7746" y="548640"/>
            <a:ext cx="4718684" cy="1920240"/>
          </a:xfrm>
        </p:spPr>
        <p:txBody>
          <a:bodyPr anchor="b"/>
          <a:lstStyle>
            <a:lvl1pPr>
              <a:defRPr sz="3840"/>
            </a:lvl1pPr>
          </a:lstStyle>
          <a:p>
            <a:r>
              <a:rPr lang="en-US"/>
              <a:t>Click to edit Master title style</a:t>
            </a:r>
            <a:endParaRPr lang="en-NP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472FFB0-1495-AED7-18D6-2D568A8E6AA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219826" y="1184911"/>
            <a:ext cx="7406640" cy="5848350"/>
          </a:xfrm>
        </p:spPr>
        <p:txBody>
          <a:bodyPr/>
          <a:lstStyle>
            <a:lvl1pPr marL="0" indent="0">
              <a:buNone/>
              <a:defRPr sz="3840"/>
            </a:lvl1pPr>
            <a:lvl2pPr marL="548640" indent="0">
              <a:buNone/>
              <a:defRPr sz="3360"/>
            </a:lvl2pPr>
            <a:lvl3pPr marL="1097280" indent="0">
              <a:buNone/>
              <a:defRPr sz="2880"/>
            </a:lvl3pPr>
            <a:lvl4pPr marL="1645920" indent="0">
              <a:buNone/>
              <a:defRPr sz="2400"/>
            </a:lvl4pPr>
            <a:lvl5pPr marL="2194560" indent="0">
              <a:buNone/>
              <a:defRPr sz="2400"/>
            </a:lvl5pPr>
            <a:lvl6pPr marL="2743200" indent="0">
              <a:buNone/>
              <a:defRPr sz="2400"/>
            </a:lvl6pPr>
            <a:lvl7pPr marL="3291840" indent="0">
              <a:buNone/>
              <a:defRPr sz="2400"/>
            </a:lvl7pPr>
            <a:lvl8pPr marL="3840480" indent="0">
              <a:buNone/>
              <a:defRPr sz="2400"/>
            </a:lvl8pPr>
            <a:lvl9pPr marL="4389120" indent="0">
              <a:buNone/>
              <a:defRPr sz="2400"/>
            </a:lvl9pPr>
          </a:lstStyle>
          <a:p>
            <a:endParaRPr lang="en-NP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9F282B6-915D-118D-101A-E4299A449E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07746" y="2468880"/>
            <a:ext cx="4718684" cy="4573906"/>
          </a:xfrm>
        </p:spPr>
        <p:txBody>
          <a:bodyPr/>
          <a:lstStyle>
            <a:lvl1pPr marL="0" indent="0">
              <a:buNone/>
              <a:defRPr sz="1920"/>
            </a:lvl1pPr>
            <a:lvl2pPr marL="548640" indent="0">
              <a:buNone/>
              <a:defRPr sz="1680"/>
            </a:lvl2pPr>
            <a:lvl3pPr marL="1097280" indent="0">
              <a:buNone/>
              <a:defRPr sz="1440"/>
            </a:lvl3pPr>
            <a:lvl4pPr marL="1645920" indent="0">
              <a:buNone/>
              <a:defRPr sz="1200"/>
            </a:lvl4pPr>
            <a:lvl5pPr marL="2194560" indent="0">
              <a:buNone/>
              <a:defRPr sz="1200"/>
            </a:lvl5pPr>
            <a:lvl6pPr marL="2743200" indent="0">
              <a:buNone/>
              <a:defRPr sz="1200"/>
            </a:lvl6pPr>
            <a:lvl7pPr marL="3291840" indent="0">
              <a:buNone/>
              <a:defRPr sz="1200"/>
            </a:lvl7pPr>
            <a:lvl8pPr marL="3840480" indent="0">
              <a:buNone/>
              <a:defRPr sz="1200"/>
            </a:lvl8pPr>
            <a:lvl9pPr marL="4389120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F41B827-A26F-5BDC-8268-7368890752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NP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181C662-BB9B-3039-0085-964D9600B0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P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9F4373-50D1-EA10-81AA-BB8E3C6EC5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F4A2D9-87E5-EF4F-9102-1DD64185A864}" type="slidenum">
              <a:rPr lang="en-NP" smtClean="0"/>
              <a:t>‹#›</a:t>
            </a:fld>
            <a:endParaRPr lang="en-NP"/>
          </a:p>
        </p:txBody>
      </p:sp>
    </p:spTree>
    <p:extLst>
      <p:ext uri="{BB962C8B-B14F-4D97-AF65-F5344CB8AC3E}">
        <p14:creationId xmlns:p14="http://schemas.microsoft.com/office/powerpoint/2010/main" val="13909952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E68A25-64CB-8EBD-F4BF-23B95D4A8D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P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5524F26-8F5B-5A9D-BD76-507AABA174D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P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89EA16-BE22-494C-74E3-8E5E0A7406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NP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46BB86-F570-27B4-CA7A-8E4523393C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P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911045-5FF0-4ECF-0E6B-1DCE97E4F4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F4A2D9-87E5-EF4F-9102-1DD64185A864}" type="slidenum">
              <a:rPr lang="en-NP" smtClean="0"/>
              <a:t>‹#›</a:t>
            </a:fld>
            <a:endParaRPr lang="en-NP"/>
          </a:p>
        </p:txBody>
      </p:sp>
    </p:spTree>
    <p:extLst>
      <p:ext uri="{BB962C8B-B14F-4D97-AF65-F5344CB8AC3E}">
        <p14:creationId xmlns:p14="http://schemas.microsoft.com/office/powerpoint/2010/main" val="27045562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CF7E1E9-2853-70B1-50A9-D1D7C87E9D8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10469880" y="438150"/>
            <a:ext cx="3154680" cy="697420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NP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1D60F2-7455-DB15-F373-B7E212653F3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005840" y="438150"/>
            <a:ext cx="9281160" cy="697420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P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51822E-E8E2-4480-9C19-C847C41CD2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NP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BB5515-E18E-B7CD-93B9-20D9335286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P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EACC20-F012-038D-4437-66D79A7751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F4A2D9-87E5-EF4F-9102-1DD64185A864}" type="slidenum">
              <a:rPr lang="en-NP" smtClean="0"/>
              <a:t>‹#›</a:t>
            </a:fld>
            <a:endParaRPr lang="en-NP"/>
          </a:p>
        </p:txBody>
      </p:sp>
    </p:spTree>
    <p:extLst>
      <p:ext uri="{BB962C8B-B14F-4D97-AF65-F5344CB8AC3E}">
        <p14:creationId xmlns:p14="http://schemas.microsoft.com/office/powerpoint/2010/main" val="134808361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755669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0470249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181952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6562661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7984622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387842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950510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7B0884F-B811-F1C1-0CB5-23E7C381E4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5840" y="438150"/>
            <a:ext cx="12618720" cy="15906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NP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71DDA2-086B-FDBD-72AC-3CCDE56B8E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05840" y="2190750"/>
            <a:ext cx="12618720" cy="52216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P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64FBA2-9EFC-FDA7-C569-6B0DD7048A5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05840" y="7627621"/>
            <a:ext cx="329184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4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NP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2215CA-735F-434B-C92C-40A4A3615F3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846320" y="7627621"/>
            <a:ext cx="493776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4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NP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7512F0-44A7-D912-4E0C-E013AA2F551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32720" y="7627621"/>
            <a:ext cx="329184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4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AF4A2D9-87E5-EF4F-9102-1DD64185A864}" type="slidenum">
              <a:rPr lang="en-NP" smtClean="0"/>
              <a:t>‹#›</a:t>
            </a:fld>
            <a:endParaRPr lang="en-NP"/>
          </a:p>
        </p:txBody>
      </p:sp>
    </p:spTree>
    <p:extLst>
      <p:ext uri="{BB962C8B-B14F-4D97-AF65-F5344CB8AC3E}">
        <p14:creationId xmlns:p14="http://schemas.microsoft.com/office/powerpoint/2010/main" val="27445554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  <p:sldLayoutId id="2147483674" r:id="rId16"/>
    <p:sldLayoutId id="2147483675" r:id="rId17"/>
    <p:sldLayoutId id="2147483677" r:id="rId18"/>
  </p:sldLayoutIdLst>
  <p:hf hdr="0" ftr="0" dt="0"/>
  <p:txStyles>
    <p:titleStyle>
      <a:lvl1pPr algn="l" defTabSz="1097280" rtl="0" eaLnBrk="1" latinLnBrk="0" hangingPunct="1">
        <a:lnSpc>
          <a:spcPct val="90000"/>
        </a:lnSpc>
        <a:spcBef>
          <a:spcPct val="0"/>
        </a:spcBef>
        <a:buNone/>
        <a:defRPr sz="528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74320" indent="-274320" algn="l" defTabSz="1097280" rtl="0" eaLnBrk="1" latinLnBrk="0" hangingPunct="1">
        <a:lnSpc>
          <a:spcPct val="90000"/>
        </a:lnSpc>
        <a:spcBef>
          <a:spcPts val="1200"/>
        </a:spcBef>
        <a:buFont typeface="Arial" panose="020B0604020202020204" pitchFamily="34" charset="0"/>
        <a:buChar char="•"/>
        <a:defRPr sz="3360" kern="1200">
          <a:solidFill>
            <a:schemeClr val="tx1"/>
          </a:solidFill>
          <a:latin typeface="+mn-lt"/>
          <a:ea typeface="+mn-ea"/>
          <a:cs typeface="+mn-cs"/>
        </a:defRPr>
      </a:lvl1pPr>
      <a:lvl2pPr marL="82296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88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92024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46888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301752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56616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411480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66344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NP"/>
      </a:defPPr>
      <a:lvl1pPr marL="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2pPr>
      <a:lvl3pPr marL="10972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3pPr>
      <a:lvl4pPr marL="16459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19456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274320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2918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38404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3891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1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13.jp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1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1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1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1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244709" y="2754749"/>
            <a:ext cx="6252091" cy="1425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600"/>
              </a:lnSpc>
              <a:buNone/>
            </a:pPr>
            <a:r>
              <a:rPr lang="en-US" sz="6000" b="1" dirty="0">
                <a:solidFill>
                  <a:srgbClr val="7068F4"/>
                </a:solidFill>
                <a:latin typeface="Arial" panose="020B0604020202020204" pitchFamily="34" charset="0"/>
                <a:ea typeface="Barlow Bold" pitchFamily="34" charset="-122"/>
                <a:cs typeface="Arial" panose="020B0604020202020204" pitchFamily="34" charset="0"/>
              </a:rPr>
              <a:t>Career Guidance System</a:t>
            </a:r>
            <a:endParaRPr lang="en-US" sz="6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6244709" y="4505087"/>
            <a:ext cx="7627382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Presented by: Bishal Ranjitkar, BCA – 8th Semester</a:t>
            </a:r>
            <a:endParaRPr lang="en-US" sz="1700" dirty="0"/>
          </a:p>
        </p:txBody>
      </p:sp>
      <p:sp>
        <p:nvSpPr>
          <p:cNvPr id="5" name="Shape 2"/>
          <p:cNvSpPr/>
          <p:nvPr/>
        </p:nvSpPr>
        <p:spPr>
          <a:xfrm>
            <a:off x="6244709" y="5111710"/>
            <a:ext cx="346591" cy="346591"/>
          </a:xfrm>
          <a:prstGeom prst="roundRect">
            <a:avLst>
              <a:gd name="adj" fmla="val 26380043"/>
            </a:avLst>
          </a:prstGeom>
          <a:noFill/>
          <a:ln w="7620">
            <a:solidFill>
              <a:srgbClr val="FFFFFF"/>
            </a:solidFill>
            <a:prstDash val="solid"/>
          </a:ln>
        </p:spPr>
      </p:sp>
      <p:pic>
        <p:nvPicPr>
          <p:cNvPr id="15" name="Picture 14" descr="A pile of newspapers with text on them&#10;&#10;AI-generated content may be incorrect.">
            <a:extLst>
              <a:ext uri="{FF2B5EF4-FFF2-40B4-BE49-F238E27FC236}">
                <a16:creationId xmlns:a16="http://schemas.microsoft.com/office/drawing/2014/main" id="{410C68F1-1579-C837-29C9-50EFE68E0BD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3388"/>
          <a:stretch>
            <a:fillRect/>
          </a:stretch>
        </p:blipFill>
        <p:spPr>
          <a:xfrm>
            <a:off x="1" y="-1"/>
            <a:ext cx="5481918" cy="8229601"/>
          </a:xfrm>
          <a:prstGeom prst="rect">
            <a:avLst/>
          </a:prstGeom>
        </p:spPr>
      </p:pic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5745D311-C207-83BF-D98D-F350AE33570B}"/>
              </a:ext>
            </a:extLst>
          </p:cNvPr>
          <p:cNvSpPr/>
          <p:nvPr/>
        </p:nvSpPr>
        <p:spPr>
          <a:xfrm>
            <a:off x="13719691" y="152399"/>
            <a:ext cx="728133" cy="677334"/>
          </a:xfrm>
          <a:prstGeom prst="round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P" dirty="0">
                <a:solidFill>
                  <a:sysClr val="windowText" lastClr="000000"/>
                </a:solidFill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758309" y="1131570"/>
            <a:ext cx="7053501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600"/>
              </a:lnSpc>
              <a:buNone/>
            </a:pPr>
            <a:r>
              <a:rPr lang="en-US" sz="4450" b="1" dirty="0">
                <a:solidFill>
                  <a:srgbClr val="7068F4"/>
                </a:solidFill>
                <a:latin typeface="Arial" panose="020B0604020202020204" pitchFamily="34" charset="0"/>
                <a:ea typeface="Barlow Bold" pitchFamily="34" charset="-122"/>
                <a:cs typeface="Arial" panose="020B0604020202020204" pitchFamily="34" charset="0"/>
              </a:rPr>
              <a:t>Introduction to the Platform</a:t>
            </a:r>
            <a:endParaRPr lang="en-US" sz="44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hape 1"/>
          <p:cNvSpPr/>
          <p:nvPr/>
        </p:nvSpPr>
        <p:spPr>
          <a:xfrm>
            <a:off x="758309" y="2169200"/>
            <a:ext cx="487442" cy="487442"/>
          </a:xfrm>
          <a:prstGeom prst="roundRect">
            <a:avLst>
              <a:gd name="adj" fmla="val 40004"/>
            </a:avLst>
          </a:prstGeom>
          <a:solidFill>
            <a:srgbClr val="EEEFF5"/>
          </a:solidFill>
          <a:ln/>
          <a:effectLst>
            <a:outerShdw blurRad="53340" dist="26670" dir="13500000" algn="bl" rotWithShape="0">
              <a:srgbClr val="FFFFFF">
                <a:alpha val="70000"/>
              </a:srgbClr>
            </a:outerShdw>
          </a:effectLst>
        </p:spPr>
      </p:sp>
      <p:sp>
        <p:nvSpPr>
          <p:cNvPr id="5" name="Text 2"/>
          <p:cNvSpPr/>
          <p:nvPr/>
        </p:nvSpPr>
        <p:spPr>
          <a:xfrm>
            <a:off x="1462326" y="2243614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Personalized Advice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462326" y="2729746"/>
            <a:ext cx="6923365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700"/>
              </a:lnSpc>
            </a:pPr>
            <a:r>
              <a:rPr lang="en-US" sz="17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Web-based platform for </a:t>
            </a:r>
            <a:r>
              <a:rPr lang="en-US" dirty="0">
                <a:solidFill>
                  <a:srgbClr val="27252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Personalized </a:t>
            </a:r>
            <a:r>
              <a:rPr lang="en-US" sz="17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career guidance.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758309" y="3509724"/>
            <a:ext cx="487442" cy="487442"/>
          </a:xfrm>
          <a:prstGeom prst="roundRect">
            <a:avLst>
              <a:gd name="adj" fmla="val 40004"/>
            </a:avLst>
          </a:prstGeom>
          <a:solidFill>
            <a:srgbClr val="EEEFF5"/>
          </a:solidFill>
          <a:ln/>
          <a:effectLst>
            <a:outerShdw blurRad="53340" dist="26670" dir="13500000" algn="bl" rotWithShape="0">
              <a:srgbClr val="FFFFFF">
                <a:alpha val="70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1462326" y="3584138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Data-Driven Analysis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1462326" y="4070271"/>
            <a:ext cx="6923365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Analyzes interests, scores, and skills.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758309" y="4850249"/>
            <a:ext cx="487442" cy="487442"/>
          </a:xfrm>
          <a:prstGeom prst="roundRect">
            <a:avLst>
              <a:gd name="adj" fmla="val 40004"/>
            </a:avLst>
          </a:prstGeom>
          <a:solidFill>
            <a:srgbClr val="EEEFF5"/>
          </a:solidFill>
          <a:ln/>
          <a:effectLst>
            <a:outerShdw blurRad="53340" dist="26670" dir="13500000" algn="bl" rotWithShape="0">
              <a:srgbClr val="FFFFFF">
                <a:alpha val="70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1462326" y="4924663"/>
            <a:ext cx="3035975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Comprehensive Outputs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1462326" y="5410795"/>
            <a:ext cx="6923365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Recommends careers, predicts success, suggests skills.</a:t>
            </a:r>
            <a:endParaRPr lang="en-US" sz="1700" dirty="0"/>
          </a:p>
        </p:txBody>
      </p:sp>
      <p:sp>
        <p:nvSpPr>
          <p:cNvPr id="13" name="Shape 10"/>
          <p:cNvSpPr/>
          <p:nvPr/>
        </p:nvSpPr>
        <p:spPr>
          <a:xfrm>
            <a:off x="758309" y="6190774"/>
            <a:ext cx="487442" cy="487442"/>
          </a:xfrm>
          <a:prstGeom prst="roundRect">
            <a:avLst>
              <a:gd name="adj" fmla="val 40004"/>
            </a:avLst>
          </a:prstGeom>
          <a:solidFill>
            <a:srgbClr val="EEEFF5"/>
          </a:solidFill>
          <a:ln/>
          <a:effectLst>
            <a:outerShdw blurRad="53340" dist="26670" dir="13500000" algn="bl" rotWithShape="0">
              <a:srgbClr val="FFFFFF">
                <a:alpha val="70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1462326" y="6265188"/>
            <a:ext cx="2886075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User-Friendly Features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1462326" y="6751320"/>
            <a:ext cx="6923365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Interactive, resume generation, student-focused.</a:t>
            </a:r>
            <a:endParaRPr lang="en-US" sz="1700" dirty="0"/>
          </a:p>
        </p:txBody>
      </p:sp>
      <p:pic>
        <p:nvPicPr>
          <p:cNvPr id="18" name="Picture 17" descr="A person standing on a road with signs&#10;&#10;AI-generated content may be incorrect.">
            <a:extLst>
              <a:ext uri="{FF2B5EF4-FFF2-40B4-BE49-F238E27FC236}">
                <a16:creationId xmlns:a16="http://schemas.microsoft.com/office/drawing/2014/main" id="{07C2C66D-6D0E-DD74-EDED-ACFB79A62C5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163" b="527"/>
          <a:stretch>
            <a:fillRect/>
          </a:stretch>
        </p:blipFill>
        <p:spPr>
          <a:xfrm>
            <a:off x="8656623" y="0"/>
            <a:ext cx="5973777" cy="8229600"/>
          </a:xfrm>
          <a:prstGeom prst="rect">
            <a:avLst/>
          </a:prstGeom>
        </p:spPr>
      </p:pic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58EEB9BE-104D-62F6-74E2-BAAA2BF03833}"/>
              </a:ext>
            </a:extLst>
          </p:cNvPr>
          <p:cNvSpPr/>
          <p:nvPr/>
        </p:nvSpPr>
        <p:spPr>
          <a:xfrm>
            <a:off x="13719691" y="152399"/>
            <a:ext cx="728133" cy="677334"/>
          </a:xfrm>
          <a:prstGeom prst="round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P" dirty="0">
                <a:solidFill>
                  <a:sysClr val="windowText" lastClr="000000"/>
                </a:solidFill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8" name="Image 0" descr="preencoded.png">
            <a:extLst>
              <a:ext uri="{FF2B5EF4-FFF2-40B4-BE49-F238E27FC236}">
                <a16:creationId xmlns:a16="http://schemas.microsoft.com/office/drawing/2014/main" id="{D1027AD0-6B5F-942F-98A1-E922F5B0BD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30195"/>
          </a:xfrm>
          <a:prstGeom prst="rect">
            <a:avLst/>
          </a:prstGeom>
        </p:spPr>
      </p:pic>
      <p:sp>
        <p:nvSpPr>
          <p:cNvPr id="1069" name="Text 0">
            <a:extLst>
              <a:ext uri="{FF2B5EF4-FFF2-40B4-BE49-F238E27FC236}">
                <a16:creationId xmlns:a16="http://schemas.microsoft.com/office/drawing/2014/main" id="{EAEA4720-27D8-F0B9-E127-36ACBF4D5683}"/>
              </a:ext>
            </a:extLst>
          </p:cNvPr>
          <p:cNvSpPr/>
          <p:nvPr/>
        </p:nvSpPr>
        <p:spPr>
          <a:xfrm>
            <a:off x="6207322" y="1267843"/>
            <a:ext cx="7702153" cy="8390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300"/>
              </a:lnSpc>
              <a:buNone/>
            </a:pPr>
            <a:r>
              <a:rPr lang="en-US" sz="4250" b="1" dirty="0">
                <a:solidFill>
                  <a:srgbClr val="7068F4"/>
                </a:solidFill>
                <a:latin typeface="Arial" panose="020B0604020202020204" pitchFamily="34" charset="0"/>
                <a:ea typeface="Barlow Bold" pitchFamily="34" charset="-122"/>
                <a:cs typeface="Arial" panose="020B0604020202020204" pitchFamily="34" charset="0"/>
              </a:rPr>
              <a:t>Problem Statement</a:t>
            </a:r>
            <a:endParaRPr lang="en-US" sz="42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70" name="Shape 1">
            <a:extLst>
              <a:ext uri="{FF2B5EF4-FFF2-40B4-BE49-F238E27FC236}">
                <a16:creationId xmlns:a16="http://schemas.microsoft.com/office/drawing/2014/main" id="{84DD849E-1087-6BD5-AA05-14EB2EFBD39F}"/>
              </a:ext>
            </a:extLst>
          </p:cNvPr>
          <p:cNvSpPr/>
          <p:nvPr/>
        </p:nvSpPr>
        <p:spPr>
          <a:xfrm>
            <a:off x="6207323" y="2230517"/>
            <a:ext cx="7702153" cy="1203841"/>
          </a:xfrm>
          <a:prstGeom prst="roundRect">
            <a:avLst>
              <a:gd name="adj" fmla="val 15399"/>
            </a:avLst>
          </a:prstGeom>
          <a:solidFill>
            <a:srgbClr val="EEEFF5"/>
          </a:solidFill>
          <a:ln/>
          <a:effectLst>
            <a:outerShdw blurRad="50800" dist="25400" dir="13500000" algn="bl" rotWithShape="0">
              <a:srgbClr val="FFFFFF">
                <a:alpha val="70000"/>
              </a:srgbClr>
            </a:outerShdw>
          </a:effectLst>
        </p:spPr>
      </p:sp>
      <p:sp>
        <p:nvSpPr>
          <p:cNvPr id="1071" name="Text 2">
            <a:extLst>
              <a:ext uri="{FF2B5EF4-FFF2-40B4-BE49-F238E27FC236}">
                <a16:creationId xmlns:a16="http://schemas.microsoft.com/office/drawing/2014/main" id="{FA698F4A-5BF6-4DC2-4687-D1EAC251886B}"/>
              </a:ext>
            </a:extLst>
          </p:cNvPr>
          <p:cNvSpPr/>
          <p:nvPr/>
        </p:nvSpPr>
        <p:spPr>
          <a:xfrm>
            <a:off x="6413302" y="2436495"/>
            <a:ext cx="2710220" cy="3387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27252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Generic Methods</a:t>
            </a:r>
            <a:endParaRPr lang="en-US" sz="2100" dirty="0"/>
          </a:p>
        </p:txBody>
      </p:sp>
      <p:sp>
        <p:nvSpPr>
          <p:cNvPr id="1072" name="Text 3">
            <a:extLst>
              <a:ext uri="{FF2B5EF4-FFF2-40B4-BE49-F238E27FC236}">
                <a16:creationId xmlns:a16="http://schemas.microsoft.com/office/drawing/2014/main" id="{61CC2F91-E72B-8487-74CB-A569D740B126}"/>
              </a:ext>
            </a:extLst>
          </p:cNvPr>
          <p:cNvSpPr/>
          <p:nvPr/>
        </p:nvSpPr>
        <p:spPr>
          <a:xfrm>
            <a:off x="6413302" y="2898815"/>
            <a:ext cx="7290197" cy="3295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Current guidance is often generalized and disconnected.</a:t>
            </a:r>
            <a:endParaRPr lang="en-US" sz="1600" dirty="0"/>
          </a:p>
        </p:txBody>
      </p:sp>
      <p:sp>
        <p:nvSpPr>
          <p:cNvPr id="1073" name="Shape 4">
            <a:extLst>
              <a:ext uri="{FF2B5EF4-FFF2-40B4-BE49-F238E27FC236}">
                <a16:creationId xmlns:a16="http://schemas.microsoft.com/office/drawing/2014/main" id="{4ADCF03C-911B-9CB9-6E16-8C1F50591666}"/>
              </a:ext>
            </a:extLst>
          </p:cNvPr>
          <p:cNvSpPr/>
          <p:nvPr/>
        </p:nvSpPr>
        <p:spPr>
          <a:xfrm>
            <a:off x="6207323" y="3640336"/>
            <a:ext cx="7702153" cy="1203841"/>
          </a:xfrm>
          <a:prstGeom prst="roundRect">
            <a:avLst>
              <a:gd name="adj" fmla="val 15399"/>
            </a:avLst>
          </a:prstGeom>
          <a:solidFill>
            <a:srgbClr val="EEEFF5"/>
          </a:solidFill>
          <a:ln/>
          <a:effectLst>
            <a:outerShdw blurRad="50800" dist="25400" dir="13500000" algn="bl" rotWithShape="0">
              <a:srgbClr val="FFFFFF">
                <a:alpha val="70000"/>
              </a:srgbClr>
            </a:outerShdw>
          </a:effectLst>
        </p:spPr>
      </p:sp>
      <p:sp>
        <p:nvSpPr>
          <p:cNvPr id="1074" name="Text 5">
            <a:extLst>
              <a:ext uri="{FF2B5EF4-FFF2-40B4-BE49-F238E27FC236}">
                <a16:creationId xmlns:a16="http://schemas.microsoft.com/office/drawing/2014/main" id="{85FDE07E-3489-EAED-CA5F-921C21B90770}"/>
              </a:ext>
            </a:extLst>
          </p:cNvPr>
          <p:cNvSpPr/>
          <p:nvPr/>
        </p:nvSpPr>
        <p:spPr>
          <a:xfrm>
            <a:off x="6413302" y="3846314"/>
            <a:ext cx="2710220" cy="3387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27252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Key Deficiencies</a:t>
            </a:r>
            <a:endParaRPr lang="en-US" sz="2100" dirty="0"/>
          </a:p>
        </p:txBody>
      </p:sp>
      <p:sp>
        <p:nvSpPr>
          <p:cNvPr id="1075" name="Text 6">
            <a:extLst>
              <a:ext uri="{FF2B5EF4-FFF2-40B4-BE49-F238E27FC236}">
                <a16:creationId xmlns:a16="http://schemas.microsoft.com/office/drawing/2014/main" id="{9D00D9B9-3845-51BD-B3FE-7841E90CBD46}"/>
              </a:ext>
            </a:extLst>
          </p:cNvPr>
          <p:cNvSpPr/>
          <p:nvPr/>
        </p:nvSpPr>
        <p:spPr>
          <a:xfrm>
            <a:off x="6413302" y="4308634"/>
            <a:ext cx="7290197" cy="3295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Lacks personalization, success prediction, skill tracking.</a:t>
            </a:r>
            <a:endParaRPr lang="en-US" sz="1600" dirty="0"/>
          </a:p>
        </p:txBody>
      </p:sp>
      <p:sp>
        <p:nvSpPr>
          <p:cNvPr id="1076" name="Shape 7">
            <a:extLst>
              <a:ext uri="{FF2B5EF4-FFF2-40B4-BE49-F238E27FC236}">
                <a16:creationId xmlns:a16="http://schemas.microsoft.com/office/drawing/2014/main" id="{C3955DD8-E871-3D15-B518-36E2E6BA3B8A}"/>
              </a:ext>
            </a:extLst>
          </p:cNvPr>
          <p:cNvSpPr/>
          <p:nvPr/>
        </p:nvSpPr>
        <p:spPr>
          <a:xfrm>
            <a:off x="6207323" y="5050155"/>
            <a:ext cx="7702153" cy="1203841"/>
          </a:xfrm>
          <a:prstGeom prst="roundRect">
            <a:avLst>
              <a:gd name="adj" fmla="val 15399"/>
            </a:avLst>
          </a:prstGeom>
          <a:solidFill>
            <a:srgbClr val="EEEFF5"/>
          </a:solidFill>
          <a:ln/>
          <a:effectLst>
            <a:outerShdw blurRad="50800" dist="25400" dir="13500000" algn="bl" rotWithShape="0">
              <a:srgbClr val="FFFFFF">
                <a:alpha val="70000"/>
              </a:srgbClr>
            </a:outerShdw>
          </a:effectLst>
        </p:spPr>
      </p:sp>
      <p:sp>
        <p:nvSpPr>
          <p:cNvPr id="1077" name="Text 8">
            <a:extLst>
              <a:ext uri="{FF2B5EF4-FFF2-40B4-BE49-F238E27FC236}">
                <a16:creationId xmlns:a16="http://schemas.microsoft.com/office/drawing/2014/main" id="{DF193D84-4088-5A44-2AC8-B77A27B0E313}"/>
              </a:ext>
            </a:extLst>
          </p:cNvPr>
          <p:cNvSpPr/>
          <p:nvPr/>
        </p:nvSpPr>
        <p:spPr>
          <a:xfrm>
            <a:off x="6413302" y="5256133"/>
            <a:ext cx="2710220" cy="3387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27252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Inefficient Counseling</a:t>
            </a:r>
            <a:endParaRPr lang="en-US" sz="2100" dirty="0"/>
          </a:p>
        </p:txBody>
      </p:sp>
      <p:sp>
        <p:nvSpPr>
          <p:cNvPr id="1078" name="Text 9">
            <a:extLst>
              <a:ext uri="{FF2B5EF4-FFF2-40B4-BE49-F238E27FC236}">
                <a16:creationId xmlns:a16="http://schemas.microsoft.com/office/drawing/2014/main" id="{072815FC-1736-8E66-335A-E12DA7A966D9}"/>
              </a:ext>
            </a:extLst>
          </p:cNvPr>
          <p:cNvSpPr/>
          <p:nvPr/>
        </p:nvSpPr>
        <p:spPr>
          <a:xfrm>
            <a:off x="6413302" y="5718453"/>
            <a:ext cx="7290197" cy="3295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Manual methods are time-consuming and inconsistent.</a:t>
            </a:r>
            <a:endParaRPr lang="en-US" sz="1600" dirty="0"/>
          </a:p>
        </p:txBody>
      </p:sp>
      <p:sp>
        <p:nvSpPr>
          <p:cNvPr id="1079" name="Shape 10">
            <a:extLst>
              <a:ext uri="{FF2B5EF4-FFF2-40B4-BE49-F238E27FC236}">
                <a16:creationId xmlns:a16="http://schemas.microsoft.com/office/drawing/2014/main" id="{949448A7-6AA8-5B36-57AE-52000116CBE3}"/>
              </a:ext>
            </a:extLst>
          </p:cNvPr>
          <p:cNvSpPr/>
          <p:nvPr/>
        </p:nvSpPr>
        <p:spPr>
          <a:xfrm>
            <a:off x="6207323" y="6459974"/>
            <a:ext cx="7702153" cy="1203841"/>
          </a:xfrm>
          <a:prstGeom prst="roundRect">
            <a:avLst>
              <a:gd name="adj" fmla="val 15399"/>
            </a:avLst>
          </a:prstGeom>
          <a:solidFill>
            <a:srgbClr val="EEEFF5"/>
          </a:solidFill>
          <a:ln/>
          <a:effectLst>
            <a:outerShdw blurRad="50800" dist="25400" dir="13500000" algn="bl" rotWithShape="0">
              <a:srgbClr val="FFFFFF">
                <a:alpha val="70000"/>
              </a:srgbClr>
            </a:outerShdw>
          </a:effectLst>
        </p:spPr>
      </p:sp>
      <p:sp>
        <p:nvSpPr>
          <p:cNvPr id="1080" name="Text 11">
            <a:extLst>
              <a:ext uri="{FF2B5EF4-FFF2-40B4-BE49-F238E27FC236}">
                <a16:creationId xmlns:a16="http://schemas.microsoft.com/office/drawing/2014/main" id="{4D073A0F-9105-CE72-8CEF-4291534DE83E}"/>
              </a:ext>
            </a:extLst>
          </p:cNvPr>
          <p:cNvSpPr/>
          <p:nvPr/>
        </p:nvSpPr>
        <p:spPr>
          <a:xfrm>
            <a:off x="6413302" y="6665952"/>
            <a:ext cx="2710220" cy="3387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27252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Demand for Innovation</a:t>
            </a:r>
            <a:endParaRPr lang="en-US" sz="2100" dirty="0"/>
          </a:p>
        </p:txBody>
      </p:sp>
      <p:sp>
        <p:nvSpPr>
          <p:cNvPr id="1081" name="Text 12">
            <a:extLst>
              <a:ext uri="{FF2B5EF4-FFF2-40B4-BE49-F238E27FC236}">
                <a16:creationId xmlns:a16="http://schemas.microsoft.com/office/drawing/2014/main" id="{B90A7D51-6043-E015-1636-D6E5BBE634F6}"/>
              </a:ext>
            </a:extLst>
          </p:cNvPr>
          <p:cNvSpPr/>
          <p:nvPr/>
        </p:nvSpPr>
        <p:spPr>
          <a:xfrm>
            <a:off x="6413302" y="7128272"/>
            <a:ext cx="7290197" cy="3295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Need for a smart, AI-based, all-in-one solution.</a:t>
            </a:r>
            <a:endParaRPr lang="en-US" sz="1600" dirty="0"/>
          </a:p>
        </p:txBody>
      </p:sp>
      <p:sp>
        <p:nvSpPr>
          <p:cNvPr id="1083" name="Rounded Rectangle 1082">
            <a:extLst>
              <a:ext uri="{FF2B5EF4-FFF2-40B4-BE49-F238E27FC236}">
                <a16:creationId xmlns:a16="http://schemas.microsoft.com/office/drawing/2014/main" id="{1B8703E2-C6F1-E29A-28A5-85D5733C23D4}"/>
              </a:ext>
            </a:extLst>
          </p:cNvPr>
          <p:cNvSpPr/>
          <p:nvPr/>
        </p:nvSpPr>
        <p:spPr>
          <a:xfrm>
            <a:off x="13719691" y="152399"/>
            <a:ext cx="728133" cy="677334"/>
          </a:xfrm>
          <a:prstGeom prst="round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P" dirty="0">
                <a:solidFill>
                  <a:sysClr val="windowText" lastClr="000000"/>
                </a:solidFill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ext 0">
            <a:extLst>
              <a:ext uri="{FF2B5EF4-FFF2-40B4-BE49-F238E27FC236}">
                <a16:creationId xmlns:a16="http://schemas.microsoft.com/office/drawing/2014/main" id="{F6D5201A-1DC0-ACBB-2797-49F347269DAA}"/>
              </a:ext>
            </a:extLst>
          </p:cNvPr>
          <p:cNvSpPr/>
          <p:nvPr/>
        </p:nvSpPr>
        <p:spPr>
          <a:xfrm>
            <a:off x="758309" y="996077"/>
            <a:ext cx="5977295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5600"/>
              </a:lnSpc>
            </a:pPr>
            <a:r>
              <a:rPr lang="en-US" sz="4450" b="1" dirty="0">
                <a:solidFill>
                  <a:srgbClr val="7068F4"/>
                </a:solidFill>
                <a:latin typeface="Arial" panose="020B0604020202020204" pitchFamily="34" charset="0"/>
                <a:ea typeface="Barlow Bold" pitchFamily="34" charset="-122"/>
                <a:cs typeface="Arial" panose="020B0604020202020204" pitchFamily="34" charset="0"/>
              </a:rPr>
              <a:t>Scope</a:t>
            </a:r>
            <a:endParaRPr lang="en-US" sz="445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0" name="Image 0" descr="preencoded.png">
            <a:extLst>
              <a:ext uri="{FF2B5EF4-FFF2-40B4-BE49-F238E27FC236}">
                <a16:creationId xmlns:a16="http://schemas.microsoft.com/office/drawing/2014/main" id="{56548E2F-1845-8FC4-E213-B91B5F3FE8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309" y="2033707"/>
            <a:ext cx="1083231" cy="1299924"/>
          </a:xfrm>
          <a:prstGeom prst="rect">
            <a:avLst/>
          </a:prstGeom>
        </p:spPr>
      </p:pic>
      <p:sp>
        <p:nvSpPr>
          <p:cNvPr id="31" name="Text 1">
            <a:extLst>
              <a:ext uri="{FF2B5EF4-FFF2-40B4-BE49-F238E27FC236}">
                <a16:creationId xmlns:a16="http://schemas.microsoft.com/office/drawing/2014/main" id="{27A0A021-49B6-6A9B-5367-51FD15A68C2A}"/>
              </a:ext>
            </a:extLst>
          </p:cNvPr>
          <p:cNvSpPr/>
          <p:nvPr/>
        </p:nvSpPr>
        <p:spPr>
          <a:xfrm>
            <a:off x="2166461" y="2250281"/>
            <a:ext cx="3459480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800"/>
              </a:lnSpc>
            </a:pPr>
            <a:r>
              <a:rPr lang="en-US" sz="2200" b="1" dirty="0">
                <a:solidFill>
                  <a:srgbClr val="27252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Tailored Recommendations</a:t>
            </a:r>
            <a:endParaRPr lang="en-US" sz="2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2" name="Text 2">
            <a:extLst>
              <a:ext uri="{FF2B5EF4-FFF2-40B4-BE49-F238E27FC236}">
                <a16:creationId xmlns:a16="http://schemas.microsoft.com/office/drawing/2014/main" id="{97D1B275-1CD3-34A0-991C-45A3614C9A09}"/>
              </a:ext>
            </a:extLst>
          </p:cNvPr>
          <p:cNvSpPr/>
          <p:nvPr/>
        </p:nvSpPr>
        <p:spPr>
          <a:xfrm>
            <a:off x="2166461" y="2736413"/>
            <a:ext cx="11705630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700"/>
              </a:lnSpc>
            </a:pPr>
            <a:r>
              <a:rPr lang="en-US" sz="17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Suggest suitable careers using student data.</a:t>
            </a:r>
            <a:endParaRPr lang="en-US" sz="1700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33" name="Image 1" descr="preencoded.png">
            <a:extLst>
              <a:ext uri="{FF2B5EF4-FFF2-40B4-BE49-F238E27FC236}">
                <a16:creationId xmlns:a16="http://schemas.microsoft.com/office/drawing/2014/main" id="{49A3292D-F67B-D9FA-A012-3CF749873EB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309" y="3333631"/>
            <a:ext cx="1083231" cy="1299924"/>
          </a:xfrm>
          <a:prstGeom prst="rect">
            <a:avLst/>
          </a:prstGeom>
        </p:spPr>
      </p:pic>
      <p:sp>
        <p:nvSpPr>
          <p:cNvPr id="34" name="Text 3">
            <a:extLst>
              <a:ext uri="{FF2B5EF4-FFF2-40B4-BE49-F238E27FC236}">
                <a16:creationId xmlns:a16="http://schemas.microsoft.com/office/drawing/2014/main" id="{DEA804F5-543F-6775-9615-E614DA9D7DD3}"/>
              </a:ext>
            </a:extLst>
          </p:cNvPr>
          <p:cNvSpPr/>
          <p:nvPr/>
        </p:nvSpPr>
        <p:spPr>
          <a:xfrm>
            <a:off x="2166461" y="3550206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800"/>
              </a:lnSpc>
            </a:pPr>
            <a:r>
              <a:rPr lang="en-US" sz="2200" b="1" dirty="0">
                <a:solidFill>
                  <a:srgbClr val="27252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Success Prediction</a:t>
            </a:r>
            <a:endParaRPr lang="en-US" sz="2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5" name="Text 4">
            <a:extLst>
              <a:ext uri="{FF2B5EF4-FFF2-40B4-BE49-F238E27FC236}">
                <a16:creationId xmlns:a16="http://schemas.microsoft.com/office/drawing/2014/main" id="{8B3A1F0A-8CD0-68B2-8049-BC36914A870B}"/>
              </a:ext>
            </a:extLst>
          </p:cNvPr>
          <p:cNvSpPr/>
          <p:nvPr/>
        </p:nvSpPr>
        <p:spPr>
          <a:xfrm>
            <a:off x="2166461" y="4036338"/>
            <a:ext cx="11705630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700"/>
              </a:lnSpc>
            </a:pPr>
            <a:r>
              <a:rPr lang="en-US" sz="17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Predict probability in chosen career paths.</a:t>
            </a:r>
            <a:endParaRPr lang="en-US" sz="1700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36" name="Image 2" descr="preencoded.png">
            <a:extLst>
              <a:ext uri="{FF2B5EF4-FFF2-40B4-BE49-F238E27FC236}">
                <a16:creationId xmlns:a16="http://schemas.microsoft.com/office/drawing/2014/main" id="{C0220D37-767A-6077-3D57-09DB35C1C19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8309" y="4633555"/>
            <a:ext cx="1083231" cy="1299924"/>
          </a:xfrm>
          <a:prstGeom prst="rect">
            <a:avLst/>
          </a:prstGeom>
        </p:spPr>
      </p:pic>
      <p:sp>
        <p:nvSpPr>
          <p:cNvPr id="37" name="Text 5">
            <a:extLst>
              <a:ext uri="{FF2B5EF4-FFF2-40B4-BE49-F238E27FC236}">
                <a16:creationId xmlns:a16="http://schemas.microsoft.com/office/drawing/2014/main" id="{89C8F1CA-8975-A7D7-6A54-74391329C8D3}"/>
              </a:ext>
            </a:extLst>
          </p:cNvPr>
          <p:cNvSpPr/>
          <p:nvPr/>
        </p:nvSpPr>
        <p:spPr>
          <a:xfrm>
            <a:off x="2166461" y="4850130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800"/>
              </a:lnSpc>
            </a:pPr>
            <a:r>
              <a:rPr lang="en-US" sz="2200" b="1" dirty="0">
                <a:solidFill>
                  <a:srgbClr val="27252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Skill Enhancement</a:t>
            </a:r>
            <a:endParaRPr lang="en-US" sz="2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8" name="Text 6">
            <a:extLst>
              <a:ext uri="{FF2B5EF4-FFF2-40B4-BE49-F238E27FC236}">
                <a16:creationId xmlns:a16="http://schemas.microsoft.com/office/drawing/2014/main" id="{A5A428CD-8F7A-7E2D-2810-BBDE40F2BADA}"/>
              </a:ext>
            </a:extLst>
          </p:cNvPr>
          <p:cNvSpPr/>
          <p:nvPr/>
        </p:nvSpPr>
        <p:spPr>
          <a:xfrm>
            <a:off x="2166461" y="5336262"/>
            <a:ext cx="11705630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700"/>
              </a:lnSpc>
            </a:pPr>
            <a:r>
              <a:rPr lang="en-US" sz="17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Propose new skills for improved employability.</a:t>
            </a:r>
            <a:endParaRPr lang="en-US" sz="1700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39" name="Image 3" descr="preencoded.png">
            <a:extLst>
              <a:ext uri="{FF2B5EF4-FFF2-40B4-BE49-F238E27FC236}">
                <a16:creationId xmlns:a16="http://schemas.microsoft.com/office/drawing/2014/main" id="{06438D83-5396-F043-8789-B9C79B38A66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8309" y="5933480"/>
            <a:ext cx="1083231" cy="1299924"/>
          </a:xfrm>
          <a:prstGeom prst="rect">
            <a:avLst/>
          </a:prstGeom>
        </p:spPr>
      </p:pic>
      <p:sp>
        <p:nvSpPr>
          <p:cNvPr id="40" name="Text 7">
            <a:extLst>
              <a:ext uri="{FF2B5EF4-FFF2-40B4-BE49-F238E27FC236}">
                <a16:creationId xmlns:a16="http://schemas.microsoft.com/office/drawing/2014/main" id="{AC2C4731-0945-4B0A-E42B-FDEE2A1D965E}"/>
              </a:ext>
            </a:extLst>
          </p:cNvPr>
          <p:cNvSpPr/>
          <p:nvPr/>
        </p:nvSpPr>
        <p:spPr>
          <a:xfrm>
            <a:off x="2166461" y="6150054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800"/>
              </a:lnSpc>
            </a:pPr>
            <a:r>
              <a:rPr lang="en-US" sz="2200" b="1" dirty="0">
                <a:solidFill>
                  <a:prstClr val="black"/>
                </a:solidFill>
                <a:latin typeface="Calibri" panose="020F0502020204030204"/>
              </a:rPr>
              <a:t>Course Suggestion</a:t>
            </a:r>
          </a:p>
        </p:txBody>
      </p:sp>
      <p:sp>
        <p:nvSpPr>
          <p:cNvPr id="41" name="Text 8">
            <a:extLst>
              <a:ext uri="{FF2B5EF4-FFF2-40B4-BE49-F238E27FC236}">
                <a16:creationId xmlns:a16="http://schemas.microsoft.com/office/drawing/2014/main" id="{8425C3F0-B437-9DCA-FA97-BDFEA0B572FA}"/>
              </a:ext>
            </a:extLst>
          </p:cNvPr>
          <p:cNvSpPr/>
          <p:nvPr/>
        </p:nvSpPr>
        <p:spPr>
          <a:xfrm>
            <a:off x="2166461" y="6636187"/>
            <a:ext cx="11705630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700"/>
              </a:lnSpc>
            </a:pPr>
            <a:r>
              <a:rPr lang="en-US" sz="17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Suggest course based on the recommendation</a:t>
            </a:r>
            <a:endParaRPr lang="en-US" sz="1700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43" name="Picture 42" descr="A red and white target with a arrow&#10;&#10;AI-generated content may be incorrect.">
            <a:extLst>
              <a:ext uri="{FF2B5EF4-FFF2-40B4-BE49-F238E27FC236}">
                <a16:creationId xmlns:a16="http://schemas.microsoft.com/office/drawing/2014/main" id="{F267F4DB-C7D4-5A5A-CE30-F2B8F4C60DBB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20697"/>
          <a:stretch>
            <a:fillRect/>
          </a:stretch>
        </p:blipFill>
        <p:spPr>
          <a:xfrm>
            <a:off x="8060267" y="-36102"/>
            <a:ext cx="6570133" cy="8284866"/>
          </a:xfrm>
          <a:prstGeom prst="rect">
            <a:avLst/>
          </a:prstGeom>
        </p:spPr>
      </p:pic>
      <p:sp>
        <p:nvSpPr>
          <p:cNvPr id="44" name="Rounded Rectangle 43">
            <a:extLst>
              <a:ext uri="{FF2B5EF4-FFF2-40B4-BE49-F238E27FC236}">
                <a16:creationId xmlns:a16="http://schemas.microsoft.com/office/drawing/2014/main" id="{6B1A2D80-C7C2-94EA-2B49-300E932C680C}"/>
              </a:ext>
            </a:extLst>
          </p:cNvPr>
          <p:cNvSpPr/>
          <p:nvPr/>
        </p:nvSpPr>
        <p:spPr>
          <a:xfrm>
            <a:off x="13719691" y="152399"/>
            <a:ext cx="728133" cy="677334"/>
          </a:xfrm>
          <a:prstGeom prst="round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P" dirty="0">
                <a:solidFill>
                  <a:sysClr val="windowText" lastClr="000000"/>
                </a:solidFill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C019FF79-AF96-C980-9487-D3E87B1AC2C5}"/>
              </a:ext>
            </a:extLst>
          </p:cNvPr>
          <p:cNvSpPr/>
          <p:nvPr/>
        </p:nvSpPr>
        <p:spPr>
          <a:xfrm>
            <a:off x="706770" y="750086"/>
            <a:ext cx="7702153" cy="826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5300"/>
              </a:lnSpc>
            </a:pPr>
            <a:r>
              <a:rPr lang="en-US" sz="4400" b="1" dirty="0">
                <a:solidFill>
                  <a:srgbClr val="7068F4"/>
                </a:solidFill>
                <a:latin typeface="Arial" panose="020B0604020202020204" pitchFamily="34" charset="0"/>
                <a:ea typeface="Barlow Bold" pitchFamily="34" charset="-122"/>
                <a:cs typeface="Arial" panose="020B0604020202020204" pitchFamily="34" charset="0"/>
              </a:rPr>
              <a:t>Methodology</a:t>
            </a:r>
            <a:endParaRPr lang="en-US" sz="42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hape 1">
            <a:extLst>
              <a:ext uri="{FF2B5EF4-FFF2-40B4-BE49-F238E27FC236}">
                <a16:creationId xmlns:a16="http://schemas.microsoft.com/office/drawing/2014/main" id="{CC308E6E-FFE9-9060-9003-16907D1F75A1}"/>
              </a:ext>
            </a:extLst>
          </p:cNvPr>
          <p:cNvSpPr/>
          <p:nvPr/>
        </p:nvSpPr>
        <p:spPr>
          <a:xfrm>
            <a:off x="294814" y="1720956"/>
            <a:ext cx="7702153" cy="2943008"/>
          </a:xfrm>
          <a:prstGeom prst="roundRect">
            <a:avLst>
              <a:gd name="adj" fmla="val 15399"/>
            </a:avLst>
          </a:prstGeom>
          <a:solidFill>
            <a:srgbClr val="EEEFF5"/>
          </a:solidFill>
          <a:ln/>
          <a:effectLst>
            <a:outerShdw blurRad="50800" dist="25400" dir="13500000" algn="bl" rotWithShape="0">
              <a:srgbClr val="FFFFFF">
                <a:alpha val="70000"/>
              </a:srgbClr>
            </a:outerShdw>
          </a:effectLst>
        </p:spPr>
        <p:txBody>
          <a:bodyPr/>
          <a:lstStyle/>
          <a:p>
            <a:endParaRPr lang="en-NP" dirty="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C9C64346-5068-1571-9E5F-B89ECCC28F16}"/>
              </a:ext>
            </a:extLst>
          </p:cNvPr>
          <p:cNvSpPr/>
          <p:nvPr/>
        </p:nvSpPr>
        <p:spPr>
          <a:xfrm>
            <a:off x="706770" y="1928495"/>
            <a:ext cx="2710220" cy="3387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650"/>
              </a:lnSpc>
            </a:pPr>
            <a:r>
              <a:rPr lang="en-US" sz="2400" dirty="0"/>
              <a:t>Functional Requirements</a:t>
            </a:r>
            <a:endParaRPr lang="en-US" sz="2100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6F5C2280-38A8-8AAA-48A5-CBBA1CB6595C}"/>
              </a:ext>
            </a:extLst>
          </p:cNvPr>
          <p:cNvSpPr/>
          <p:nvPr/>
        </p:nvSpPr>
        <p:spPr>
          <a:xfrm>
            <a:off x="706770" y="2426249"/>
            <a:ext cx="7290197" cy="1182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285750" indent="-285750">
              <a:lnSpc>
                <a:spcPts val="255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User registration and secure login</a:t>
            </a:r>
          </a:p>
          <a:p>
            <a:pPr marL="285750" indent="-285750">
              <a:lnSpc>
                <a:spcPts val="255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Input interests, marks, and skills</a:t>
            </a:r>
          </a:p>
          <a:p>
            <a:pPr marL="285750" indent="-285750">
              <a:lnSpc>
                <a:spcPts val="255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Career recommendations based on input</a:t>
            </a:r>
          </a:p>
          <a:p>
            <a:pPr marL="285750" indent="-285750">
              <a:lnSpc>
                <a:spcPts val="255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Success prediction for different careers</a:t>
            </a:r>
          </a:p>
          <a:p>
            <a:pPr marL="285750" indent="-285750">
              <a:lnSpc>
                <a:spcPts val="255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Skill suggestions for improvement</a:t>
            </a:r>
          </a:p>
          <a:p>
            <a:pPr marL="285750" indent="-285750">
              <a:lnSpc>
                <a:spcPts val="255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Resume generation from user data</a:t>
            </a:r>
          </a:p>
          <a:p>
            <a:pPr marL="285750" indent="-285750">
              <a:lnSpc>
                <a:spcPts val="2550"/>
              </a:lnSpc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0" indent="0" algn="l">
              <a:lnSpc>
                <a:spcPts val="2550"/>
              </a:lnSpc>
              <a:buNone/>
            </a:pPr>
            <a:endParaRPr lang="en-US" sz="1600" dirty="0"/>
          </a:p>
        </p:txBody>
      </p:sp>
      <p:pic>
        <p:nvPicPr>
          <p:cNvPr id="25" name="Picture 24" descr="A torn brown paper with the word requirements&#10;&#10;AI-generated content may be incorrect.">
            <a:extLst>
              <a:ext uri="{FF2B5EF4-FFF2-40B4-BE49-F238E27FC236}">
                <a16:creationId xmlns:a16="http://schemas.microsoft.com/office/drawing/2014/main" id="{EEA0DC8C-3A97-782E-ED4B-6A3A876F6FF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5963" r="11177" b="39598"/>
          <a:stretch>
            <a:fillRect/>
          </a:stretch>
        </p:blipFill>
        <p:spPr>
          <a:xfrm rot="16200000">
            <a:off x="7698890" y="1592903"/>
            <a:ext cx="8229600" cy="5043793"/>
          </a:xfrm>
          <a:prstGeom prst="rect">
            <a:avLst/>
          </a:prstGeom>
        </p:spPr>
      </p:pic>
      <p:sp>
        <p:nvSpPr>
          <p:cNvPr id="39" name="Shape 1">
            <a:extLst>
              <a:ext uri="{FF2B5EF4-FFF2-40B4-BE49-F238E27FC236}">
                <a16:creationId xmlns:a16="http://schemas.microsoft.com/office/drawing/2014/main" id="{FE2039FB-83A3-C40E-CA8E-CCE11CC800C4}"/>
              </a:ext>
            </a:extLst>
          </p:cNvPr>
          <p:cNvSpPr/>
          <p:nvPr/>
        </p:nvSpPr>
        <p:spPr>
          <a:xfrm>
            <a:off x="294813" y="4871258"/>
            <a:ext cx="7702153" cy="2943008"/>
          </a:xfrm>
          <a:prstGeom prst="roundRect">
            <a:avLst>
              <a:gd name="adj" fmla="val 15399"/>
            </a:avLst>
          </a:prstGeom>
          <a:solidFill>
            <a:srgbClr val="EEEFF5"/>
          </a:solidFill>
          <a:ln/>
          <a:effectLst>
            <a:outerShdw blurRad="50800" dist="25400" dir="13500000" algn="bl" rotWithShape="0">
              <a:srgbClr val="FFFFFF">
                <a:alpha val="70000"/>
              </a:srgbClr>
            </a:outerShdw>
          </a:effectLst>
        </p:spPr>
        <p:txBody>
          <a:bodyPr/>
          <a:lstStyle/>
          <a:p>
            <a:endParaRPr lang="en-NP" dirty="0"/>
          </a:p>
        </p:txBody>
      </p:sp>
      <p:sp>
        <p:nvSpPr>
          <p:cNvPr id="40" name="Text 2">
            <a:extLst>
              <a:ext uri="{FF2B5EF4-FFF2-40B4-BE49-F238E27FC236}">
                <a16:creationId xmlns:a16="http://schemas.microsoft.com/office/drawing/2014/main" id="{CBDB143E-4596-0EB1-3071-1EDF116474DC}"/>
              </a:ext>
            </a:extLst>
          </p:cNvPr>
          <p:cNvSpPr/>
          <p:nvPr/>
        </p:nvSpPr>
        <p:spPr>
          <a:xfrm>
            <a:off x="706769" y="5078797"/>
            <a:ext cx="2710220" cy="3387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650"/>
              </a:lnSpc>
            </a:pPr>
            <a:r>
              <a:rPr lang="en-US" sz="2400" dirty="0"/>
              <a:t>Non-Functional Requirements</a:t>
            </a:r>
            <a:endParaRPr lang="en-US" sz="2100" dirty="0"/>
          </a:p>
        </p:txBody>
      </p:sp>
      <p:sp>
        <p:nvSpPr>
          <p:cNvPr id="41" name="Text 3">
            <a:extLst>
              <a:ext uri="{FF2B5EF4-FFF2-40B4-BE49-F238E27FC236}">
                <a16:creationId xmlns:a16="http://schemas.microsoft.com/office/drawing/2014/main" id="{2B89C0F2-B07A-C385-F2A3-2041C5DD062B}"/>
              </a:ext>
            </a:extLst>
          </p:cNvPr>
          <p:cNvSpPr/>
          <p:nvPr/>
        </p:nvSpPr>
        <p:spPr>
          <a:xfrm>
            <a:off x="706769" y="5576551"/>
            <a:ext cx="7290197" cy="1182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285750" indent="-285750">
              <a:lnSpc>
                <a:spcPts val="255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Easy to use interface</a:t>
            </a:r>
          </a:p>
          <a:p>
            <a:pPr marL="285750" indent="-285750">
              <a:lnSpc>
                <a:spcPts val="255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Accessible on any device</a:t>
            </a:r>
          </a:p>
          <a:p>
            <a:pPr marL="285750" indent="-285750">
              <a:lnSpc>
                <a:spcPts val="255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Secure user data and login</a:t>
            </a:r>
          </a:p>
          <a:p>
            <a:pPr marL="285750" indent="-285750">
              <a:lnSpc>
                <a:spcPts val="255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Fast system response</a:t>
            </a:r>
          </a:p>
          <a:p>
            <a:pPr marL="285750" indent="-285750">
              <a:lnSpc>
                <a:spcPts val="255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Low maintenance and easy updates</a:t>
            </a:r>
          </a:p>
          <a:p>
            <a:pPr marL="285750" indent="-285750">
              <a:lnSpc>
                <a:spcPts val="255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Scalable for more users/features</a:t>
            </a:r>
          </a:p>
          <a:p>
            <a:pPr marL="285750" indent="-285750">
              <a:lnSpc>
                <a:spcPts val="2550"/>
              </a:lnSpc>
              <a:buFont typeface="Arial" panose="020B0604020202020204" pitchFamily="34" charset="0"/>
              <a:buChar char="•"/>
            </a:pPr>
            <a:endParaRPr lang="en-US" sz="1600" dirty="0">
              <a:solidFill>
                <a:srgbClr val="272525"/>
              </a:solidFill>
              <a:latin typeface="Montserrat" pitchFamily="34" charset="0"/>
              <a:ea typeface="Montserrat" pitchFamily="34" charset="-122"/>
              <a:cs typeface="Montserrat" pitchFamily="34" charset="-120"/>
            </a:endParaRPr>
          </a:p>
          <a:p>
            <a:pPr marL="285750" indent="-285750">
              <a:lnSpc>
                <a:spcPts val="2550"/>
              </a:lnSpc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0" indent="0" algn="l">
              <a:lnSpc>
                <a:spcPts val="2550"/>
              </a:lnSpc>
              <a:buNone/>
            </a:pPr>
            <a:endParaRPr lang="en-US" sz="1600" dirty="0"/>
          </a:p>
        </p:txBody>
      </p:sp>
      <p:sp>
        <p:nvSpPr>
          <p:cNvPr id="43" name="Rounded Rectangle 42">
            <a:extLst>
              <a:ext uri="{FF2B5EF4-FFF2-40B4-BE49-F238E27FC236}">
                <a16:creationId xmlns:a16="http://schemas.microsoft.com/office/drawing/2014/main" id="{6E14E775-2DC7-F1EA-883B-C8666471487A}"/>
              </a:ext>
            </a:extLst>
          </p:cNvPr>
          <p:cNvSpPr/>
          <p:nvPr/>
        </p:nvSpPr>
        <p:spPr>
          <a:xfrm>
            <a:off x="13719691" y="152399"/>
            <a:ext cx="728133" cy="677334"/>
          </a:xfrm>
          <a:prstGeom prst="round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P" dirty="0">
                <a:solidFill>
                  <a:sysClr val="windowText" lastClr="000000"/>
                </a:solidFill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3928452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758308" y="933450"/>
            <a:ext cx="5848945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600"/>
              </a:lnSpc>
              <a:buNone/>
            </a:pPr>
            <a:r>
              <a:rPr lang="en-US" sz="4450" b="1" dirty="0">
                <a:solidFill>
                  <a:srgbClr val="7068F4"/>
                </a:solidFill>
                <a:latin typeface="Arial" panose="020B0604020202020204" pitchFamily="34" charset="0"/>
                <a:ea typeface="Barlow Bold" pitchFamily="34" charset="-122"/>
                <a:cs typeface="Arial" panose="020B0604020202020204" pitchFamily="34" charset="0"/>
              </a:rPr>
              <a:t>Key System Algorithms</a:t>
            </a:r>
            <a:endParaRPr lang="en-US" sz="44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307" y="2033707"/>
            <a:ext cx="1083231" cy="1299924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2166459" y="2200587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Rule-Based Filtering</a:t>
            </a:r>
            <a:endParaRPr lang="en-US" sz="2200" dirty="0"/>
          </a:p>
        </p:txBody>
      </p:sp>
      <p:sp>
        <p:nvSpPr>
          <p:cNvPr id="6" name="Text 2"/>
          <p:cNvSpPr/>
          <p:nvPr/>
        </p:nvSpPr>
        <p:spPr>
          <a:xfrm>
            <a:off x="2166458" y="2575559"/>
            <a:ext cx="6219230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Generates career suggestions based on predefined rules.</a:t>
            </a:r>
            <a:endParaRPr lang="en-US" sz="17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306" y="3421079"/>
            <a:ext cx="1083231" cy="1299924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2166459" y="3535918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Linear Regression</a:t>
            </a:r>
            <a:endParaRPr lang="en-US" sz="2200" dirty="0"/>
          </a:p>
        </p:txBody>
      </p:sp>
      <p:sp>
        <p:nvSpPr>
          <p:cNvPr id="9" name="Text 4"/>
          <p:cNvSpPr/>
          <p:nvPr/>
        </p:nvSpPr>
        <p:spPr>
          <a:xfrm>
            <a:off x="2166458" y="3941445"/>
            <a:ext cx="6219230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Predicts the probability of career success.</a:t>
            </a:r>
            <a:endParaRPr lang="en-US" sz="170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8306" y="4808451"/>
            <a:ext cx="1083231" cy="1299924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2166459" y="4994909"/>
            <a:ext cx="2992041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Association Rule Mining</a:t>
            </a:r>
            <a:endParaRPr lang="en-US" sz="2200" dirty="0"/>
          </a:p>
        </p:txBody>
      </p:sp>
      <p:sp>
        <p:nvSpPr>
          <p:cNvPr id="12" name="Text 6"/>
          <p:cNvSpPr/>
          <p:nvPr/>
        </p:nvSpPr>
        <p:spPr>
          <a:xfrm>
            <a:off x="2166459" y="5372576"/>
            <a:ext cx="6219230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Suggests new skills complementing existing ones.</a:t>
            </a:r>
            <a:endParaRPr lang="en-US" sz="1700" dirty="0"/>
          </a:p>
        </p:txBody>
      </p:sp>
      <p:pic>
        <p:nvPicPr>
          <p:cNvPr id="14" name="Picture 13" descr="A computer screen with colorful text&#10;&#10;AI-generated content may be incorrect.">
            <a:extLst>
              <a:ext uri="{FF2B5EF4-FFF2-40B4-BE49-F238E27FC236}">
                <a16:creationId xmlns:a16="http://schemas.microsoft.com/office/drawing/2014/main" id="{837E869A-D3AB-A4D0-2FF2-F4CEB6F81B00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34423"/>
          <a:stretch>
            <a:fillRect/>
          </a:stretch>
        </p:blipFill>
        <p:spPr>
          <a:xfrm>
            <a:off x="9279467" y="-37491"/>
            <a:ext cx="5430693" cy="8281358"/>
          </a:xfrm>
          <a:prstGeom prst="rect">
            <a:avLst/>
          </a:prstGeom>
        </p:spPr>
      </p:pic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E3C6320B-A617-4702-8C6C-14544DFC8584}"/>
              </a:ext>
            </a:extLst>
          </p:cNvPr>
          <p:cNvSpPr/>
          <p:nvPr/>
        </p:nvSpPr>
        <p:spPr>
          <a:xfrm>
            <a:off x="13719691" y="152399"/>
            <a:ext cx="728133" cy="677334"/>
          </a:xfrm>
          <a:prstGeom prst="round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P" dirty="0">
                <a:solidFill>
                  <a:sysClr val="windowText" lastClr="000000"/>
                </a:solidFill>
              </a:rPr>
              <a:t>6</a:t>
            </a:r>
          </a:p>
        </p:txBody>
      </p:sp>
      <p:pic>
        <p:nvPicPr>
          <p:cNvPr id="2" name="Image 3" descr="preencoded.png">
            <a:extLst>
              <a:ext uri="{FF2B5EF4-FFF2-40B4-BE49-F238E27FC236}">
                <a16:creationId xmlns:a16="http://schemas.microsoft.com/office/drawing/2014/main" id="{BA007C1D-364F-F811-2770-D1A1487B976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8306" y="6108375"/>
            <a:ext cx="1083231" cy="1299924"/>
          </a:xfrm>
          <a:prstGeom prst="rect">
            <a:avLst/>
          </a:prstGeom>
        </p:spPr>
      </p:pic>
      <p:sp>
        <p:nvSpPr>
          <p:cNvPr id="13" name="Text 5">
            <a:extLst>
              <a:ext uri="{FF2B5EF4-FFF2-40B4-BE49-F238E27FC236}">
                <a16:creationId xmlns:a16="http://schemas.microsoft.com/office/drawing/2014/main" id="{48354C4B-6D72-30DB-92F3-EC42AE0E2D44}"/>
              </a:ext>
            </a:extLst>
          </p:cNvPr>
          <p:cNvSpPr/>
          <p:nvPr/>
        </p:nvSpPr>
        <p:spPr>
          <a:xfrm>
            <a:off x="2166458" y="6374293"/>
            <a:ext cx="2992041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b="1" dirty="0"/>
              <a:t>Content Based Filtering</a:t>
            </a:r>
          </a:p>
        </p:txBody>
      </p:sp>
      <p:sp>
        <p:nvSpPr>
          <p:cNvPr id="16" name="Text 6">
            <a:extLst>
              <a:ext uri="{FF2B5EF4-FFF2-40B4-BE49-F238E27FC236}">
                <a16:creationId xmlns:a16="http://schemas.microsoft.com/office/drawing/2014/main" id="{34898300-6288-9A69-74A2-7DA7CC74EAF9}"/>
              </a:ext>
            </a:extLst>
          </p:cNvPr>
          <p:cNvSpPr/>
          <p:nvPr/>
        </p:nvSpPr>
        <p:spPr>
          <a:xfrm>
            <a:off x="2166458" y="6752766"/>
            <a:ext cx="6219230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Suggests new courses based on recommendation.</a:t>
            </a:r>
            <a:endParaRPr lang="en-US" sz="1700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18345FA-BFFF-CD10-33DB-D0690CAB51D6}"/>
              </a:ext>
            </a:extLst>
          </p:cNvPr>
          <p:cNvSpPr/>
          <p:nvPr/>
        </p:nvSpPr>
        <p:spPr>
          <a:xfrm>
            <a:off x="1090246" y="6552410"/>
            <a:ext cx="474785" cy="547066"/>
          </a:xfrm>
          <a:prstGeom prst="rect">
            <a:avLst/>
          </a:prstGeom>
          <a:solidFill>
            <a:srgbClr val="F1F1F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P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95957D5-BD40-4DEB-A4A8-1984BC5BC36B}"/>
              </a:ext>
            </a:extLst>
          </p:cNvPr>
          <p:cNvSpPr txBox="1"/>
          <p:nvPr/>
        </p:nvSpPr>
        <p:spPr>
          <a:xfrm>
            <a:off x="1115282" y="6438140"/>
            <a:ext cx="36927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P" sz="3200" dirty="0"/>
              <a:t>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1">
            <a:extLst>
              <a:ext uri="{FF2B5EF4-FFF2-40B4-BE49-F238E27FC236}">
                <a16:creationId xmlns:a16="http://schemas.microsoft.com/office/drawing/2014/main" id="{D2039A01-9BC4-1432-4701-72C279372C30}"/>
              </a:ext>
            </a:extLst>
          </p:cNvPr>
          <p:cNvSpPr/>
          <p:nvPr/>
        </p:nvSpPr>
        <p:spPr>
          <a:xfrm>
            <a:off x="264022" y="2159689"/>
            <a:ext cx="7051178" cy="23725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27252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Finds the best career matches for you.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27252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Compares your profile against different career requirements.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27252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Gives "points" for every matching skill and quiz answer.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27252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To see which careers fit you best.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27252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Result: A ranked list of careers (e.g., Web Developer: #1).</a:t>
            </a:r>
            <a:br>
              <a:rPr lang="en-US" sz="2400" b="1" dirty="0">
                <a:solidFill>
                  <a:srgbClr val="27252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</a:br>
            <a:endParaRPr lang="en-US" sz="2400" dirty="0"/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400" dirty="0"/>
          </a:p>
        </p:txBody>
      </p:sp>
      <p:pic>
        <p:nvPicPr>
          <p:cNvPr id="1026" name="Picture 2" descr="Media generated by meta.ai">
            <a:extLst>
              <a:ext uri="{FF2B5EF4-FFF2-40B4-BE49-F238E27FC236}">
                <a16:creationId xmlns:a16="http://schemas.microsoft.com/office/drawing/2014/main" id="{329E192B-B468-0FBA-9469-C17B761E5FC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003"/>
          <a:stretch>
            <a:fillRect/>
          </a:stretch>
        </p:blipFill>
        <p:spPr bwMode="auto">
          <a:xfrm>
            <a:off x="8781455" y="-44300"/>
            <a:ext cx="5848945" cy="8318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156E1E3F-822B-7F5C-BFF3-766D928A2717}"/>
              </a:ext>
            </a:extLst>
          </p:cNvPr>
          <p:cNvSpPr/>
          <p:nvPr/>
        </p:nvSpPr>
        <p:spPr>
          <a:xfrm>
            <a:off x="13767560" y="194080"/>
            <a:ext cx="728133" cy="677334"/>
          </a:xfrm>
          <a:prstGeom prst="round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P" dirty="0">
                <a:solidFill>
                  <a:sysClr val="windowText" lastClr="000000"/>
                </a:solidFill>
              </a:rPr>
              <a:t>7</a:t>
            </a:r>
          </a:p>
        </p:txBody>
      </p:sp>
      <p:sp>
        <p:nvSpPr>
          <p:cNvPr id="21" name="Text 0">
            <a:extLst>
              <a:ext uri="{FF2B5EF4-FFF2-40B4-BE49-F238E27FC236}">
                <a16:creationId xmlns:a16="http://schemas.microsoft.com/office/drawing/2014/main" id="{7A963149-3BCD-F8BD-7A6A-A8476DA6DBF0}"/>
              </a:ext>
            </a:extLst>
          </p:cNvPr>
          <p:cNvSpPr/>
          <p:nvPr/>
        </p:nvSpPr>
        <p:spPr>
          <a:xfrm>
            <a:off x="462805" y="1284426"/>
            <a:ext cx="5848945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5600"/>
              </a:lnSpc>
            </a:pPr>
            <a:r>
              <a:rPr lang="en-US" sz="4450" b="1" dirty="0">
                <a:solidFill>
                  <a:srgbClr val="7068F4"/>
                </a:solidFill>
                <a:latin typeface="Arial" panose="020B0604020202020204" pitchFamily="34" charset="0"/>
                <a:ea typeface="Barlow Bold" pitchFamily="34" charset="-122"/>
                <a:cs typeface="Arial" panose="020B0604020202020204" pitchFamily="34" charset="0"/>
              </a:rPr>
              <a:t>Rule-Based Filtering</a:t>
            </a:r>
          </a:p>
          <a:p>
            <a:pPr>
              <a:lnSpc>
                <a:spcPts val="5600"/>
              </a:lnSpc>
            </a:pPr>
            <a:endParaRPr lang="en-US" sz="44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406301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B7429BAB-B086-33C6-B21C-A33A9A2084B0}"/>
              </a:ext>
            </a:extLst>
          </p:cNvPr>
          <p:cNvSpPr/>
          <p:nvPr/>
        </p:nvSpPr>
        <p:spPr>
          <a:xfrm>
            <a:off x="462805" y="2259080"/>
            <a:ext cx="7051178" cy="23725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27252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Predicts your chance of success in a career.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27252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How it works: Uses a math formula to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27252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calculate a percentage (0-100%).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27252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Logic: Combines your Skills, Quiz Answers, and GPA.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27252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Goal: To show how likely you are to succeed in a specific job.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27252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Result: A success score (e.g., "95% Chance of Success").</a:t>
            </a:r>
          </a:p>
          <a:p>
            <a:pPr>
              <a:lnSpc>
                <a:spcPct val="150000"/>
              </a:lnSpc>
            </a:pPr>
            <a:endParaRPr lang="en-US" sz="2400" dirty="0"/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400" dirty="0"/>
          </a:p>
        </p:txBody>
      </p:sp>
      <p:sp>
        <p:nvSpPr>
          <p:cNvPr id="9" name="Text 0">
            <a:extLst>
              <a:ext uri="{FF2B5EF4-FFF2-40B4-BE49-F238E27FC236}">
                <a16:creationId xmlns:a16="http://schemas.microsoft.com/office/drawing/2014/main" id="{F65A46D9-A0DE-AEA6-E0FC-DD8D08FED2FC}"/>
              </a:ext>
            </a:extLst>
          </p:cNvPr>
          <p:cNvSpPr/>
          <p:nvPr/>
        </p:nvSpPr>
        <p:spPr>
          <a:xfrm>
            <a:off x="462805" y="1284426"/>
            <a:ext cx="5848945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5600"/>
              </a:lnSpc>
            </a:pPr>
            <a:r>
              <a:rPr lang="en-US" sz="4450" b="1" dirty="0">
                <a:solidFill>
                  <a:srgbClr val="7068F4"/>
                </a:solidFill>
                <a:latin typeface="Arial" panose="020B0604020202020204" pitchFamily="34" charset="0"/>
                <a:ea typeface="Barlow Bold" pitchFamily="34" charset="-122"/>
                <a:cs typeface="Arial" panose="020B0604020202020204" pitchFamily="34" charset="0"/>
              </a:rPr>
              <a:t>Linear Regression</a:t>
            </a:r>
          </a:p>
          <a:p>
            <a:pPr>
              <a:lnSpc>
                <a:spcPts val="5600"/>
              </a:lnSpc>
            </a:pPr>
            <a:endParaRPr lang="en-US" sz="44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056" name="Picture 8" descr="Media generated by meta.ai">
            <a:extLst>
              <a:ext uri="{FF2B5EF4-FFF2-40B4-BE49-F238E27FC236}">
                <a16:creationId xmlns:a16="http://schemas.microsoft.com/office/drawing/2014/main" id="{F7D76E46-479A-B567-F8D0-3A7BDA993EA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628" b="10145"/>
          <a:stretch>
            <a:fillRect/>
          </a:stretch>
        </p:blipFill>
        <p:spPr bwMode="auto">
          <a:xfrm>
            <a:off x="8996564" y="-76761"/>
            <a:ext cx="5951888" cy="83831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661D419A-139C-AFED-4232-95EA89407520}"/>
              </a:ext>
            </a:extLst>
          </p:cNvPr>
          <p:cNvSpPr/>
          <p:nvPr/>
        </p:nvSpPr>
        <p:spPr>
          <a:xfrm>
            <a:off x="13767560" y="194080"/>
            <a:ext cx="728133" cy="677334"/>
          </a:xfrm>
          <a:prstGeom prst="round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P" dirty="0">
                <a:solidFill>
                  <a:sysClr val="windowText" lastClr="000000"/>
                </a:solidFill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1639874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>
            <a:extLst>
              <a:ext uri="{FF2B5EF4-FFF2-40B4-BE49-F238E27FC236}">
                <a16:creationId xmlns:a16="http://schemas.microsoft.com/office/drawing/2014/main" id="{557E4E7D-5A6C-D543-E12B-C8BC052C9ED0}"/>
              </a:ext>
            </a:extLst>
          </p:cNvPr>
          <p:cNvSpPr/>
          <p:nvPr/>
        </p:nvSpPr>
        <p:spPr>
          <a:xfrm>
            <a:off x="462805" y="2219324"/>
            <a:ext cx="7051178" cy="23725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27252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Suggests new skills for you to learn.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27252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It looks at the skills you already have.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27252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Uses patterns like "If you know Python, you should learn</a:t>
            </a:r>
          </a:p>
          <a:p>
            <a:pPr>
              <a:lnSpc>
                <a:spcPct val="150000"/>
              </a:lnSpc>
            </a:pPr>
            <a:r>
              <a:rPr lang="en-US" sz="2400" b="1" dirty="0">
                <a:solidFill>
                  <a:srgbClr val="27252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      Data Analysis."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27252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Helps you expand your knowledge with related skills.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27252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A list of new skills you might be interested in.</a:t>
            </a:r>
          </a:p>
          <a:p>
            <a:pPr>
              <a:lnSpc>
                <a:spcPct val="150000"/>
              </a:lnSpc>
            </a:pPr>
            <a:endParaRPr lang="en-US" sz="2400" b="1" dirty="0">
              <a:solidFill>
                <a:srgbClr val="272525"/>
              </a:solidFill>
              <a:latin typeface="Barlow Bold" pitchFamily="34" charset="0"/>
              <a:ea typeface="Barlow Bold" pitchFamily="34" charset="-122"/>
              <a:cs typeface="Barlow Bold" pitchFamily="34" charset="-120"/>
            </a:endParaRPr>
          </a:p>
          <a:p>
            <a:pPr>
              <a:lnSpc>
                <a:spcPct val="150000"/>
              </a:lnSpc>
            </a:pPr>
            <a:endParaRPr lang="en-US" sz="2400" dirty="0"/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400" dirty="0"/>
          </a:p>
        </p:txBody>
      </p:sp>
      <p:sp>
        <p:nvSpPr>
          <p:cNvPr id="3" name="Text 0">
            <a:extLst>
              <a:ext uri="{FF2B5EF4-FFF2-40B4-BE49-F238E27FC236}">
                <a16:creationId xmlns:a16="http://schemas.microsoft.com/office/drawing/2014/main" id="{E6DB8707-F55E-0C50-A8FB-74BA59A04621}"/>
              </a:ext>
            </a:extLst>
          </p:cNvPr>
          <p:cNvSpPr/>
          <p:nvPr/>
        </p:nvSpPr>
        <p:spPr>
          <a:xfrm>
            <a:off x="462805" y="1284426"/>
            <a:ext cx="5848945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5600"/>
              </a:lnSpc>
            </a:pPr>
            <a:r>
              <a:rPr lang="en-US" sz="4450" b="1" dirty="0">
                <a:solidFill>
                  <a:srgbClr val="7068F4"/>
                </a:solidFill>
                <a:latin typeface="Arial" panose="020B0604020202020204" pitchFamily="34" charset="0"/>
                <a:ea typeface="Barlow Bold" pitchFamily="34" charset="-122"/>
                <a:cs typeface="Arial" panose="020B0604020202020204" pitchFamily="34" charset="0"/>
              </a:rPr>
              <a:t>Association Rule Mining</a:t>
            </a:r>
          </a:p>
          <a:p>
            <a:pPr>
              <a:lnSpc>
                <a:spcPts val="5600"/>
              </a:lnSpc>
            </a:pPr>
            <a:endParaRPr lang="en-US" sz="4450" b="1" dirty="0">
              <a:solidFill>
                <a:srgbClr val="7068F4"/>
              </a:solidFill>
              <a:latin typeface="Arial" panose="020B0604020202020204" pitchFamily="34" charset="0"/>
              <a:ea typeface="Barlow Bold" pitchFamily="34" charset="-122"/>
              <a:cs typeface="Arial" panose="020B0604020202020204" pitchFamily="34" charset="0"/>
            </a:endParaRPr>
          </a:p>
          <a:p>
            <a:pPr>
              <a:lnSpc>
                <a:spcPts val="5600"/>
              </a:lnSpc>
            </a:pPr>
            <a:endParaRPr lang="en-US" sz="44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074" name="Picture 2" descr="Media generated by meta.ai">
            <a:extLst>
              <a:ext uri="{FF2B5EF4-FFF2-40B4-BE49-F238E27FC236}">
                <a16:creationId xmlns:a16="http://schemas.microsoft.com/office/drawing/2014/main" id="{C1162B28-078B-52C3-32D5-421C9B7C1C6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608"/>
          <a:stretch>
            <a:fillRect/>
          </a:stretch>
        </p:blipFill>
        <p:spPr bwMode="auto">
          <a:xfrm>
            <a:off x="9104243" y="-30683"/>
            <a:ext cx="5526157" cy="82909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ED7B0926-5CF7-2D2A-AB8F-A459E402189C}"/>
              </a:ext>
            </a:extLst>
          </p:cNvPr>
          <p:cNvSpPr/>
          <p:nvPr/>
        </p:nvSpPr>
        <p:spPr>
          <a:xfrm>
            <a:off x="13767560" y="194080"/>
            <a:ext cx="728133" cy="677334"/>
          </a:xfrm>
          <a:prstGeom prst="round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P" dirty="0">
                <a:solidFill>
                  <a:sysClr val="windowText" lastClr="000000"/>
                </a:solidFill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26659372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>
            <a:extLst>
              <a:ext uri="{FF2B5EF4-FFF2-40B4-BE49-F238E27FC236}">
                <a16:creationId xmlns:a16="http://schemas.microsoft.com/office/drawing/2014/main" id="{B09BF92F-1015-E702-15FA-8535C13A64CC}"/>
              </a:ext>
            </a:extLst>
          </p:cNvPr>
          <p:cNvSpPr/>
          <p:nvPr/>
        </p:nvSpPr>
        <p:spPr>
          <a:xfrm>
            <a:off x="462804" y="2219324"/>
            <a:ext cx="8204117" cy="40423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27252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Recommends specific courses to take.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27252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Looks at the new skills suggested to you.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27252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Finds courses in the database that teach those specific skills.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27252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To give you study materials to improve your skills.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27252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A list of course links and descriptions.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400" b="1" dirty="0">
              <a:solidFill>
                <a:srgbClr val="272525"/>
              </a:solidFill>
              <a:latin typeface="Barlow Bold" pitchFamily="34" charset="0"/>
              <a:ea typeface="Barlow Bold" pitchFamily="34" charset="-122"/>
              <a:cs typeface="Barlow Bold" pitchFamily="34" charset="-120"/>
            </a:endParaRPr>
          </a:p>
          <a:p>
            <a:pPr>
              <a:lnSpc>
                <a:spcPct val="150000"/>
              </a:lnSpc>
            </a:pPr>
            <a:endParaRPr lang="en-US" sz="2400" b="1" dirty="0">
              <a:solidFill>
                <a:srgbClr val="272525"/>
              </a:solidFill>
              <a:latin typeface="Barlow Bold" pitchFamily="34" charset="0"/>
              <a:ea typeface="Barlow Bold" pitchFamily="34" charset="-122"/>
              <a:cs typeface="Barlow Bold" pitchFamily="34" charset="-120"/>
            </a:endParaRPr>
          </a:p>
          <a:p>
            <a:pPr>
              <a:lnSpc>
                <a:spcPct val="150000"/>
              </a:lnSpc>
            </a:pPr>
            <a:endParaRPr lang="en-US" sz="2400" dirty="0"/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400" dirty="0"/>
          </a:p>
        </p:txBody>
      </p:sp>
      <p:sp>
        <p:nvSpPr>
          <p:cNvPr id="3" name="Text 0">
            <a:extLst>
              <a:ext uri="{FF2B5EF4-FFF2-40B4-BE49-F238E27FC236}">
                <a16:creationId xmlns:a16="http://schemas.microsoft.com/office/drawing/2014/main" id="{B99CC58C-8AE7-2107-AF0B-63E485A34BEE}"/>
              </a:ext>
            </a:extLst>
          </p:cNvPr>
          <p:cNvSpPr/>
          <p:nvPr/>
        </p:nvSpPr>
        <p:spPr>
          <a:xfrm>
            <a:off x="462805" y="1284426"/>
            <a:ext cx="5848945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5600"/>
              </a:lnSpc>
            </a:pPr>
            <a:r>
              <a:rPr lang="en-US" sz="4450" b="1" dirty="0">
                <a:solidFill>
                  <a:srgbClr val="7068F4"/>
                </a:solidFill>
                <a:latin typeface="Arial" panose="020B0604020202020204" pitchFamily="34" charset="0"/>
                <a:ea typeface="Barlow Bold" pitchFamily="34" charset="-122"/>
                <a:cs typeface="Arial" panose="020B0604020202020204" pitchFamily="34" charset="0"/>
              </a:rPr>
              <a:t>Content-Based Filtering</a:t>
            </a:r>
          </a:p>
          <a:p>
            <a:pPr>
              <a:lnSpc>
                <a:spcPts val="5600"/>
              </a:lnSpc>
            </a:pPr>
            <a:br>
              <a:rPr lang="en-US" sz="4450" b="1" dirty="0">
                <a:solidFill>
                  <a:srgbClr val="7068F4"/>
                </a:solidFill>
                <a:latin typeface="Arial" panose="020B0604020202020204" pitchFamily="34" charset="0"/>
                <a:ea typeface="Barlow Bold" pitchFamily="34" charset="-122"/>
                <a:cs typeface="Arial" panose="020B0604020202020204" pitchFamily="34" charset="0"/>
              </a:rPr>
            </a:br>
            <a:endParaRPr lang="en-US" sz="4450" b="1" dirty="0">
              <a:solidFill>
                <a:srgbClr val="7068F4"/>
              </a:solidFill>
              <a:latin typeface="Arial" panose="020B0604020202020204" pitchFamily="34" charset="0"/>
              <a:ea typeface="Barlow Bold" pitchFamily="34" charset="-122"/>
              <a:cs typeface="Arial" panose="020B0604020202020204" pitchFamily="34" charset="0"/>
            </a:endParaRPr>
          </a:p>
          <a:p>
            <a:pPr>
              <a:lnSpc>
                <a:spcPts val="5600"/>
              </a:lnSpc>
            </a:pPr>
            <a:endParaRPr lang="en-US" sz="4450" b="1" dirty="0">
              <a:solidFill>
                <a:srgbClr val="7068F4"/>
              </a:solidFill>
              <a:latin typeface="Arial" panose="020B0604020202020204" pitchFamily="34" charset="0"/>
              <a:ea typeface="Barlow Bold" pitchFamily="34" charset="-122"/>
              <a:cs typeface="Arial" panose="020B0604020202020204" pitchFamily="34" charset="0"/>
            </a:endParaRPr>
          </a:p>
          <a:p>
            <a:pPr>
              <a:lnSpc>
                <a:spcPts val="5600"/>
              </a:lnSpc>
            </a:pPr>
            <a:endParaRPr lang="en-US" sz="4450" b="1" dirty="0">
              <a:solidFill>
                <a:srgbClr val="7068F4"/>
              </a:solidFill>
              <a:latin typeface="Arial" panose="020B0604020202020204" pitchFamily="34" charset="0"/>
              <a:ea typeface="Barlow Bold" pitchFamily="34" charset="-122"/>
              <a:cs typeface="Arial" panose="020B0604020202020204" pitchFamily="34" charset="0"/>
            </a:endParaRPr>
          </a:p>
          <a:p>
            <a:pPr>
              <a:lnSpc>
                <a:spcPts val="5600"/>
              </a:lnSpc>
            </a:pPr>
            <a:endParaRPr lang="en-US" sz="44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098" name="Picture 2" descr="Media generated by meta.ai">
            <a:extLst>
              <a:ext uri="{FF2B5EF4-FFF2-40B4-BE49-F238E27FC236}">
                <a16:creationId xmlns:a16="http://schemas.microsoft.com/office/drawing/2014/main" id="{4B46CB25-351D-C748-108A-E980A133B0E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386" b="6039"/>
          <a:stretch>
            <a:fillRect/>
          </a:stretch>
        </p:blipFill>
        <p:spPr bwMode="auto">
          <a:xfrm>
            <a:off x="9144000" y="78041"/>
            <a:ext cx="5486400" cy="81515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9A89D302-7950-8945-62D2-5AB16B182AE2}"/>
              </a:ext>
            </a:extLst>
          </p:cNvPr>
          <p:cNvSpPr/>
          <p:nvPr/>
        </p:nvSpPr>
        <p:spPr>
          <a:xfrm>
            <a:off x="13767560" y="194080"/>
            <a:ext cx="728133" cy="677334"/>
          </a:xfrm>
          <a:prstGeom prst="round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P" dirty="0">
                <a:solidFill>
                  <a:sysClr val="windowText" lastClr="000000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6120503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309" y="918210"/>
            <a:ext cx="5701546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600"/>
              </a:lnSpc>
              <a:buNone/>
            </a:pPr>
            <a:r>
              <a:rPr lang="en-US" sz="4450" b="1" dirty="0">
                <a:solidFill>
                  <a:srgbClr val="7068F4"/>
                </a:solidFill>
                <a:latin typeface="Arial" panose="020B0604020202020204" pitchFamily="34" charset="0"/>
                <a:ea typeface="Barlow Bold" pitchFamily="34" charset="-122"/>
                <a:cs typeface="Arial" panose="020B0604020202020204" pitchFamily="34" charset="0"/>
              </a:rPr>
              <a:t>Expected Outcomes</a:t>
            </a:r>
            <a:endParaRPr lang="en-US" sz="44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758309" y="2064187"/>
            <a:ext cx="162401" cy="832842"/>
          </a:xfrm>
          <a:prstGeom prst="roundRect">
            <a:avLst>
              <a:gd name="adj" fmla="val 120071"/>
            </a:avLst>
          </a:prstGeom>
          <a:solidFill>
            <a:srgbClr val="EEEFF5"/>
          </a:solidFill>
          <a:ln/>
          <a:effectLst>
            <a:outerShdw blurRad="53340" dist="26670" dir="13500000" algn="bl" rotWithShape="0">
              <a:srgbClr val="FFFFFF">
                <a:alpha val="7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1245632" y="2064187"/>
            <a:ext cx="3336369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Simplified Career Planning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245632" y="2550319"/>
            <a:ext cx="12626459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AI support for easier decision-making.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758309" y="3113604"/>
            <a:ext cx="162401" cy="832842"/>
          </a:xfrm>
          <a:prstGeom prst="roundRect">
            <a:avLst>
              <a:gd name="adj" fmla="val 120071"/>
            </a:avLst>
          </a:prstGeom>
          <a:solidFill>
            <a:srgbClr val="EEEFF5"/>
          </a:solidFill>
          <a:ln/>
          <a:effectLst>
            <a:outerShdw blurRad="53340" dist="26670" dir="13500000" algn="bl" rotWithShape="0">
              <a:srgbClr val="FFFFFF">
                <a:alpha val="7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245632" y="3135213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Personalized Insights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245632" y="3599735"/>
            <a:ext cx="12301538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Tailored recommendations and success predictions.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58309" y="4163020"/>
            <a:ext cx="162401" cy="832842"/>
          </a:xfrm>
          <a:prstGeom prst="roundRect">
            <a:avLst>
              <a:gd name="adj" fmla="val 120071"/>
            </a:avLst>
          </a:prstGeom>
          <a:solidFill>
            <a:srgbClr val="EEEFF5"/>
          </a:solidFill>
          <a:ln/>
          <a:effectLst>
            <a:outerShdw blurRad="53340" dist="26670" dir="13500000" algn="bl" rotWithShape="0">
              <a:srgbClr val="FFFFFF">
                <a:alpha val="7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245632" y="4138798"/>
            <a:ext cx="3010257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Enhanced Employability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245632" y="4610160"/>
            <a:ext cx="11976497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Skill-building suggestions to boost career prospects.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58309" y="5212437"/>
            <a:ext cx="162401" cy="832842"/>
          </a:xfrm>
          <a:prstGeom prst="roundRect">
            <a:avLst>
              <a:gd name="adj" fmla="val 120071"/>
            </a:avLst>
          </a:prstGeom>
          <a:solidFill>
            <a:srgbClr val="EEEFF5"/>
          </a:solidFill>
          <a:ln/>
          <a:effectLst>
            <a:outerShdw blurRad="53340" dist="26670" dir="13500000" algn="bl" rotWithShape="0">
              <a:srgbClr val="FFFFFF">
                <a:alpha val="7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1241153" y="5197740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Automated Efficiency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241153" y="5698569"/>
            <a:ext cx="11651575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Time savings through resume automation.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758309" y="6261854"/>
            <a:ext cx="162401" cy="832842"/>
          </a:xfrm>
          <a:prstGeom prst="roundRect">
            <a:avLst>
              <a:gd name="adj" fmla="val 120071"/>
            </a:avLst>
          </a:prstGeom>
          <a:solidFill>
            <a:srgbClr val="EEEFF5"/>
          </a:solidFill>
          <a:ln/>
          <a:effectLst>
            <a:outerShdw blurRad="53340" dist="26670" dir="13500000" algn="bl" rotWithShape="0">
              <a:srgbClr val="FFFFFF">
                <a:alpha val="7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1241152" y="6247156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Improved Guidance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245632" y="6702153"/>
            <a:ext cx="11976497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Better student decisions and institutional support.</a:t>
            </a:r>
            <a:endParaRPr lang="en-US" sz="1700" dirty="0"/>
          </a:p>
        </p:txBody>
      </p:sp>
      <p:pic>
        <p:nvPicPr>
          <p:cNvPr id="19" name="Picture 18" descr="A person jumping in the air with a computer&#10;&#10;AI-generated content may be incorrect.">
            <a:extLst>
              <a:ext uri="{FF2B5EF4-FFF2-40B4-BE49-F238E27FC236}">
                <a16:creationId xmlns:a16="http://schemas.microsoft.com/office/drawing/2014/main" id="{C2631F81-F4BE-8420-82C3-6948A7ADB14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0090" b="16696"/>
          <a:stretch>
            <a:fillRect/>
          </a:stretch>
        </p:blipFill>
        <p:spPr>
          <a:xfrm>
            <a:off x="7721600" y="-20657"/>
            <a:ext cx="6925733" cy="8250257"/>
          </a:xfrm>
          <a:prstGeom prst="rect">
            <a:avLst/>
          </a:prstGeom>
        </p:spPr>
      </p:pic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E71FFA7A-07D5-7E94-8633-68CDD694E48F}"/>
              </a:ext>
            </a:extLst>
          </p:cNvPr>
          <p:cNvSpPr/>
          <p:nvPr/>
        </p:nvSpPr>
        <p:spPr>
          <a:xfrm>
            <a:off x="13719691" y="152399"/>
            <a:ext cx="728133" cy="677334"/>
          </a:xfrm>
          <a:prstGeom prst="round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P" dirty="0">
                <a:solidFill>
                  <a:sysClr val="windowText" lastClr="000000"/>
                </a:solidFill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50738785-8BB1-BAC9-13A1-A193C59412A1}"/>
              </a:ext>
            </a:extLst>
          </p:cNvPr>
          <p:cNvSpPr/>
          <p:nvPr/>
        </p:nvSpPr>
        <p:spPr>
          <a:xfrm>
            <a:off x="-442112" y="3151505"/>
            <a:ext cx="9892758" cy="192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600"/>
              </a:lnSpc>
              <a:buNone/>
            </a:pPr>
            <a:r>
              <a:rPr lang="en-US" sz="6000" b="1" dirty="0">
                <a:solidFill>
                  <a:srgbClr val="7068F4"/>
                </a:solidFill>
                <a:latin typeface="Arial" panose="020B0604020202020204" pitchFamily="34" charset="0"/>
                <a:ea typeface="Barlow Bold" pitchFamily="34" charset="-122"/>
                <a:cs typeface="Arial" panose="020B0604020202020204" pitchFamily="34" charset="0"/>
              </a:rPr>
              <a:t>Thank You! </a:t>
            </a:r>
          </a:p>
          <a:p>
            <a:pPr marL="0" indent="0" algn="ctr">
              <a:lnSpc>
                <a:spcPts val="5600"/>
              </a:lnSpc>
              <a:buNone/>
            </a:pPr>
            <a:r>
              <a:rPr lang="en-US" sz="6000" b="1" dirty="0">
                <a:solidFill>
                  <a:srgbClr val="7068F4"/>
                </a:solidFill>
                <a:latin typeface="Arial" panose="020B0604020202020204" pitchFamily="34" charset="0"/>
                <a:ea typeface="Barlow Bold" pitchFamily="34" charset="-122"/>
                <a:cs typeface="Arial" panose="020B0604020202020204" pitchFamily="34" charset="0"/>
              </a:rPr>
              <a:t>Any Queries?</a:t>
            </a:r>
          </a:p>
          <a:p>
            <a:pPr marL="0" indent="0" algn="ctr">
              <a:lnSpc>
                <a:spcPts val="5600"/>
              </a:lnSpc>
              <a:buNone/>
            </a:pPr>
            <a:endParaRPr lang="en-US" sz="6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3" descr="A group of white speech bubbles with question marks&#10;&#10;AI-generated content may be incorrect.">
            <a:extLst>
              <a:ext uri="{FF2B5EF4-FFF2-40B4-BE49-F238E27FC236}">
                <a16:creationId xmlns:a16="http://schemas.microsoft.com/office/drawing/2014/main" id="{C112B5F3-D763-7290-2ED7-41858305158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0305"/>
          <a:stretch>
            <a:fillRect/>
          </a:stretch>
        </p:blipFill>
        <p:spPr>
          <a:xfrm>
            <a:off x="9702801" y="0"/>
            <a:ext cx="4927600" cy="82546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6456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628</TotalTime>
  <Words>541</Words>
  <Application>Microsoft Macintosh PowerPoint</Application>
  <PresentationFormat>Custom</PresentationFormat>
  <Paragraphs>116</Paragraphs>
  <Slides>12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Arial</vt:lpstr>
      <vt:lpstr>Aptos Display</vt:lpstr>
      <vt:lpstr>Montserrat</vt:lpstr>
      <vt:lpstr>Aptos</vt:lpstr>
      <vt:lpstr>Calibri</vt:lpstr>
      <vt:lpstr>Barlow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Bishal Ranjitkar</cp:lastModifiedBy>
  <cp:revision>9</cp:revision>
  <dcterms:created xsi:type="dcterms:W3CDTF">2025-06-08T06:51:15Z</dcterms:created>
  <dcterms:modified xsi:type="dcterms:W3CDTF">2025-11-26T03:41:20Z</dcterms:modified>
</cp:coreProperties>
</file>